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9" r:id="rId4"/>
    <p:sldId id="258" r:id="rId5"/>
    <p:sldId id="280" r:id="rId6"/>
    <p:sldId id="281" r:id="rId7"/>
    <p:sldId id="282" r:id="rId8"/>
    <p:sldId id="288" r:id="rId9"/>
    <p:sldId id="349" r:id="rId10"/>
    <p:sldId id="291" r:id="rId11"/>
    <p:sldId id="290" r:id="rId12"/>
    <p:sldId id="292" r:id="rId13"/>
    <p:sldId id="293" r:id="rId14"/>
    <p:sldId id="294" r:id="rId15"/>
    <p:sldId id="295" r:id="rId16"/>
    <p:sldId id="284" r:id="rId17"/>
    <p:sldId id="283" r:id="rId18"/>
    <p:sldId id="286" r:id="rId19"/>
    <p:sldId id="287" r:id="rId20"/>
    <p:sldId id="289" r:id="rId21"/>
    <p:sldId id="296" r:id="rId22"/>
    <p:sldId id="297" r:id="rId23"/>
    <p:sldId id="298" r:id="rId24"/>
    <p:sldId id="299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7" r:id="rId41"/>
    <p:sldId id="348" r:id="rId42"/>
    <p:sldId id="314" r:id="rId43"/>
    <p:sldId id="316" r:id="rId44"/>
    <p:sldId id="317" r:id="rId45"/>
    <p:sldId id="318" r:id="rId46"/>
    <p:sldId id="319" r:id="rId47"/>
    <p:sldId id="320" r:id="rId48"/>
    <p:sldId id="322" r:id="rId49"/>
    <p:sldId id="321" r:id="rId50"/>
    <p:sldId id="324" r:id="rId51"/>
    <p:sldId id="325" r:id="rId52"/>
    <p:sldId id="326" r:id="rId53"/>
    <p:sldId id="323" r:id="rId54"/>
    <p:sldId id="328" r:id="rId55"/>
    <p:sldId id="329" r:id="rId56"/>
    <p:sldId id="330" r:id="rId57"/>
    <p:sldId id="327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A1818E-D08B-CE4B-B4A8-03502230FA27}">
          <p14:sldIdLst>
            <p14:sldId id="256"/>
            <p14:sldId id="257"/>
            <p14:sldId id="279"/>
            <p14:sldId id="258"/>
            <p14:sldId id="280"/>
          </p14:sldIdLst>
        </p14:section>
        <p14:section name="Introduction to Market Design" id="{BA11CB1B-88E3-B840-A5AD-CA5822C78778}">
          <p14:sldIdLst>
            <p14:sldId id="281"/>
            <p14:sldId id="282"/>
            <p14:sldId id="288"/>
            <p14:sldId id="349"/>
            <p14:sldId id="291"/>
            <p14:sldId id="290"/>
          </p14:sldIdLst>
        </p14:section>
        <p14:section name="Appendix" id="{5976A636-76E4-EC43-9A6D-69C233DC5255}">
          <p14:sldIdLst>
            <p14:sldId id="292"/>
            <p14:sldId id="293"/>
            <p14:sldId id="294"/>
            <p14:sldId id="295"/>
            <p14:sldId id="284"/>
            <p14:sldId id="283"/>
            <p14:sldId id="286"/>
            <p14:sldId id="287"/>
            <p14:sldId id="289"/>
            <p14:sldId id="296"/>
            <p14:sldId id="297"/>
            <p14:sldId id="298"/>
          </p14:sldIdLst>
        </p14:section>
        <p14:section name="Algorithm Exampels" id="{F44CC82D-AB7F-7441-9609-660E85771965}">
          <p14:sldIdLst>
            <p14:sldId id="299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8"/>
            <p14:sldId id="314"/>
            <p14:sldId id="316"/>
            <p14:sldId id="317"/>
            <p14:sldId id="318"/>
            <p14:sldId id="319"/>
            <p14:sldId id="320"/>
            <p14:sldId id="322"/>
            <p14:sldId id="321"/>
            <p14:sldId id="324"/>
            <p14:sldId id="325"/>
            <p14:sldId id="326"/>
            <p14:sldId id="323"/>
            <p14:sldId id="328"/>
            <p14:sldId id="329"/>
            <p14:sldId id="330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71"/>
  </p:normalViewPr>
  <p:slideViewPr>
    <p:cSldViewPr snapToGrid="0">
      <p:cViewPr varScale="1">
        <p:scale>
          <a:sx n="104" d="100"/>
          <a:sy n="104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f1dnocPQXDQ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1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5.svg"/><Relationship Id="rId9" Type="http://schemas.openxmlformats.org/officeDocument/2006/relationships/image" Target="../media/image12.png"/><Relationship Id="rId14" Type="http://schemas.openxmlformats.org/officeDocument/2006/relationships/image" Target="../media/image19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5.svg"/><Relationship Id="rId9" Type="http://schemas.openxmlformats.org/officeDocument/2006/relationships/image" Target="../media/image12.png"/><Relationship Id="rId14" Type="http://schemas.openxmlformats.org/officeDocument/2006/relationships/image" Target="../media/image19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5.svg"/><Relationship Id="rId9" Type="http://schemas.openxmlformats.org/officeDocument/2006/relationships/image" Target="../media/image12.png"/><Relationship Id="rId14" Type="http://schemas.openxmlformats.org/officeDocument/2006/relationships/image" Target="../media/image19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5.svg"/><Relationship Id="rId9" Type="http://schemas.openxmlformats.org/officeDocument/2006/relationships/image" Target="../media/image12.png"/><Relationship Id="rId14" Type="http://schemas.openxmlformats.org/officeDocument/2006/relationships/image" Target="../media/image19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1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1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1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slide" Target="slide2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E4A6-B18E-2D49-B52B-9EC08C9F8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802298"/>
            <a:ext cx="11393423" cy="2541431"/>
          </a:xfrm>
        </p:spPr>
        <p:txBody>
          <a:bodyPr/>
          <a:lstStyle/>
          <a:p>
            <a:r>
              <a:rPr lang="en-US" dirty="0"/>
              <a:t>London Fire Brigade</a:t>
            </a:r>
            <a:br>
              <a:rPr lang="en-US" dirty="0"/>
            </a:br>
            <a:r>
              <a:rPr lang="en-US" dirty="0"/>
              <a:t>	Personnel Placements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0C87C-4AF9-44BA-AF23-8141B0B549C5}"/>
              </a:ext>
            </a:extLst>
          </p:cNvPr>
          <p:cNvSpPr txBox="1"/>
          <p:nvPr/>
        </p:nvSpPr>
        <p:spPr>
          <a:xfrm>
            <a:off x="5043488" y="4314825"/>
            <a:ext cx="1639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 M Altmann</a:t>
            </a:r>
          </a:p>
        </p:txBody>
      </p:sp>
    </p:spTree>
    <p:extLst>
      <p:ext uri="{BB962C8B-B14F-4D97-AF65-F5344CB8AC3E}">
        <p14:creationId xmlns:p14="http://schemas.microsoft.com/office/powerpoint/2010/main" val="418464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AA65-54E7-EE05-11D2-C4C2CD5C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B9CC-C2D7-125F-E447-C5ABC4618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530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Introduction</a:t>
            </a:r>
          </a:p>
          <a:p>
            <a:r>
              <a:rPr lang="en-US" sz="3200" dirty="0"/>
              <a:t>My previous work </a:t>
            </a:r>
          </a:p>
          <a:p>
            <a:r>
              <a:rPr lang="en-US" sz="3200" dirty="0"/>
              <a:t>Matching and Market Design</a:t>
            </a:r>
          </a:p>
          <a:p>
            <a:pPr lvl="1"/>
            <a:r>
              <a:rPr lang="en-US" sz="3000" dirty="0"/>
              <a:t>School Choice</a:t>
            </a:r>
          </a:p>
          <a:p>
            <a:pPr lvl="1"/>
            <a:r>
              <a:rPr lang="en-US" sz="3000" dirty="0"/>
              <a:t>Doctor Allocation</a:t>
            </a:r>
          </a:p>
          <a:p>
            <a:pPr lvl="1"/>
            <a:r>
              <a:rPr lang="en-US" sz="3000" dirty="0"/>
              <a:t>Teacher Allocation</a:t>
            </a:r>
          </a:p>
          <a:p>
            <a:r>
              <a:rPr lang="en-US" sz="3200" dirty="0"/>
              <a:t>How I can help you</a:t>
            </a:r>
          </a:p>
          <a:p>
            <a:r>
              <a:rPr lang="en-US" sz="3200" dirty="0"/>
              <a:t>My Goals</a:t>
            </a:r>
          </a:p>
        </p:txBody>
      </p:sp>
    </p:spTree>
    <p:extLst>
      <p:ext uri="{BB962C8B-B14F-4D97-AF65-F5344CB8AC3E}">
        <p14:creationId xmlns:p14="http://schemas.microsoft.com/office/powerpoint/2010/main" val="263583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2E71-273C-C2EC-A9C4-A1826965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47707-DC95-2F34-5113-C17F37156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114345" cy="3973588"/>
          </a:xfrm>
        </p:spPr>
        <p:txBody>
          <a:bodyPr>
            <a:normAutofit/>
          </a:bodyPr>
          <a:lstStyle/>
          <a:p>
            <a:r>
              <a:rPr lang="en-GB" dirty="0"/>
              <a:t>Who am I?</a:t>
            </a:r>
          </a:p>
          <a:p>
            <a:pPr lvl="1"/>
            <a:r>
              <a:rPr lang="en-GB" dirty="0"/>
              <a:t>Lecturer in Economics, Queen Mary University of London</a:t>
            </a:r>
          </a:p>
          <a:p>
            <a:pPr lvl="1"/>
            <a:r>
              <a:rPr lang="en-GB" dirty="0"/>
              <a:t>PhD in economics, University of Oxford</a:t>
            </a:r>
          </a:p>
          <a:p>
            <a:r>
              <a:rPr lang="en-GB" dirty="0"/>
              <a:t>What do I want?</a:t>
            </a:r>
            <a:endParaRPr lang="en-GB" i="1" dirty="0"/>
          </a:p>
          <a:p>
            <a:pPr lvl="1"/>
            <a:r>
              <a:rPr lang="en-GB" dirty="0"/>
              <a:t>Research output: Publications, Grants, Policy reports</a:t>
            </a:r>
          </a:p>
          <a:p>
            <a:r>
              <a:rPr lang="en-GB" dirty="0"/>
              <a:t>What do I do?</a:t>
            </a:r>
          </a:p>
          <a:p>
            <a:pPr lvl="1"/>
            <a:r>
              <a:rPr lang="en-GB" dirty="0"/>
              <a:t>I study allocation problems, personnel matching, and “market design”</a:t>
            </a:r>
          </a:p>
          <a:p>
            <a:pPr lvl="1"/>
            <a:r>
              <a:rPr lang="en-GB" dirty="0"/>
              <a:t>Evaluating impacts of design changes, or assessing demand for certain policies</a:t>
            </a:r>
          </a:p>
          <a:p>
            <a:pPr lvl="1"/>
            <a:r>
              <a:rPr lang="en-GB" dirty="0"/>
              <a:t>Previously worked on </a:t>
            </a:r>
            <a:r>
              <a:rPr lang="en-GB" dirty="0">
                <a:hlinkClick r:id="rId2" action="ppaction://hlinksldjump"/>
              </a:rPr>
              <a:t>Food banks</a:t>
            </a:r>
            <a:r>
              <a:rPr lang="en-GB" dirty="0"/>
              <a:t>, </a:t>
            </a:r>
            <a:r>
              <a:rPr lang="en-GB" dirty="0">
                <a:hlinkClick r:id="rId3" action="ppaction://hlinksldjump"/>
              </a:rPr>
              <a:t>Council Housing</a:t>
            </a:r>
            <a:r>
              <a:rPr lang="en-GB" dirty="0"/>
              <a:t>, Home Exchange, Ride Share, Doctor Allocation</a:t>
            </a:r>
          </a:p>
        </p:txBody>
      </p:sp>
    </p:spTree>
    <p:extLst>
      <p:ext uri="{BB962C8B-B14F-4D97-AF65-F5344CB8AC3E}">
        <p14:creationId xmlns:p14="http://schemas.microsoft.com/office/powerpoint/2010/main" val="171782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03DF-0F01-E051-2C8D-BCE6C566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Matching and “Market Design”</a:t>
            </a:r>
            <a:br>
              <a:rPr lang="en-US" dirty="0"/>
            </a:br>
            <a:r>
              <a:rPr lang="en-US" sz="1800" dirty="0"/>
              <a:t>(where I’m coming from)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DE0EF-EB0A-9A9C-A415-0CFE4A9EA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168079"/>
            <a:ext cx="9603275" cy="4287554"/>
          </a:xfrm>
        </p:spPr>
        <p:txBody>
          <a:bodyPr>
            <a:normAutofit/>
          </a:bodyPr>
          <a:lstStyle/>
          <a:p>
            <a:r>
              <a:rPr lang="en-US" dirty="0"/>
              <a:t>What is a “market”? 	A place where matches happen</a:t>
            </a:r>
          </a:p>
          <a:p>
            <a:pPr lvl="1"/>
            <a:r>
              <a:rPr lang="en-US" dirty="0"/>
              <a:t>The “marriage market” – a place singles go to match with other singles</a:t>
            </a:r>
          </a:p>
          <a:p>
            <a:r>
              <a:rPr lang="en-US" dirty="0"/>
              <a:t>Market Design is the study of how to </a:t>
            </a:r>
            <a:r>
              <a:rPr lang="en-US" dirty="0" err="1"/>
              <a:t>organise</a:t>
            </a:r>
            <a:r>
              <a:rPr lang="en-US" dirty="0"/>
              <a:t> </a:t>
            </a:r>
            <a:r>
              <a:rPr lang="en-US" dirty="0" err="1"/>
              <a:t>centralised</a:t>
            </a:r>
            <a:r>
              <a:rPr lang="en-US" dirty="0"/>
              <a:t> “exchanges”</a:t>
            </a:r>
          </a:p>
          <a:p>
            <a:pPr lvl="1"/>
            <a:r>
              <a:rPr lang="en-US" dirty="0"/>
              <a:t>Council houses, doctors, school places</a:t>
            </a:r>
          </a:p>
          <a:p>
            <a:pPr lvl="1"/>
            <a:r>
              <a:rPr lang="en-US" dirty="0"/>
              <a:t>Usually, markets we don’t want to leave to “market forces”</a:t>
            </a:r>
          </a:p>
          <a:p>
            <a:r>
              <a:rPr lang="en-US" dirty="0"/>
              <a:t>A key focus on balancing efficiency and equity/fairness</a:t>
            </a:r>
          </a:p>
          <a:p>
            <a:pPr lvl="1"/>
            <a:r>
              <a:rPr lang="en-US" dirty="0"/>
              <a:t>Don’t want council houses to be vacant, or people to be stuck on endless waiting lists</a:t>
            </a:r>
          </a:p>
          <a:p>
            <a:pPr lvl="1"/>
            <a:r>
              <a:rPr lang="en-US" dirty="0"/>
              <a:t>Don’t want doctors stuck in jobs they dislike, wasting their skills</a:t>
            </a:r>
          </a:p>
        </p:txBody>
      </p:sp>
    </p:spTree>
    <p:extLst>
      <p:ext uri="{BB962C8B-B14F-4D97-AF65-F5344CB8AC3E}">
        <p14:creationId xmlns:p14="http://schemas.microsoft.com/office/powerpoint/2010/main" val="197513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362B-7293-767E-E560-20723761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Previous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9F88B-B6ED-E536-706D-5E3D7D6F4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825177"/>
            <a:ext cx="10307142" cy="4732785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Food banks  [Feeding America]							</a:t>
            </a:r>
            <a:r>
              <a:rPr lang="en-GB" dirty="0">
                <a:hlinkClick r:id="rId2" action="ppaction://hlinksldjump"/>
              </a:rPr>
              <a:t>DETAILS</a:t>
            </a:r>
            <a:endParaRPr lang="en-GB" dirty="0"/>
          </a:p>
          <a:p>
            <a:pPr lvl="1"/>
            <a:r>
              <a:rPr lang="en-GB" dirty="0"/>
              <a:t>100K tonnes of food distributed (pa) to their network of food banks. My PhD studied their “Choice System”.</a:t>
            </a:r>
          </a:p>
          <a:p>
            <a:r>
              <a:rPr lang="en-GB" dirty="0"/>
              <a:t>Long distance ride sharing [</a:t>
            </a:r>
            <a:r>
              <a:rPr lang="en-GB" dirty="0" err="1"/>
              <a:t>Blablacar</a:t>
            </a:r>
            <a:r>
              <a:rPr lang="en-GB" dirty="0"/>
              <a:t>] 						 	</a:t>
            </a:r>
            <a:r>
              <a:rPr lang="en-GB" dirty="0">
                <a:hlinkClick r:id="rId3" action="ppaction://hlinksldjump"/>
              </a:rPr>
              <a:t>DETAILS</a:t>
            </a:r>
            <a:endParaRPr lang="en-GB" dirty="0"/>
          </a:p>
          <a:p>
            <a:pPr lvl="1"/>
            <a:r>
              <a:rPr lang="en-GB" dirty="0"/>
              <a:t>Matching is mostly last minute, with ~50% unfilled seats.  Trialling a mechanism to encourage earlier matches</a:t>
            </a:r>
          </a:p>
          <a:p>
            <a:r>
              <a:rPr lang="en-GB" dirty="0"/>
              <a:t>Council Housing </a:t>
            </a:r>
            <a:r>
              <a:rPr lang="en-GB" sz="1600" dirty="0"/>
              <a:t>[interrupted by COVID] 						 	</a:t>
            </a:r>
            <a:r>
              <a:rPr lang="en-GB" dirty="0">
                <a:hlinkClick r:id="rId4" action="ppaction://hlinksldjump"/>
              </a:rPr>
              <a:t>DETAILS</a:t>
            </a:r>
            <a:endParaRPr lang="en-GB" dirty="0"/>
          </a:p>
          <a:p>
            <a:pPr lvl="1"/>
            <a:r>
              <a:rPr lang="en-GB" dirty="0"/>
              <a:t>Working with 6 UK councils to improve the design of their waiting lists for council houses</a:t>
            </a:r>
          </a:p>
          <a:p>
            <a:pPr lvl="1"/>
            <a:r>
              <a:rPr lang="en-GB" dirty="0"/>
              <a:t>How much do people want “any” house vs a “specific” house - vertical vs horizontal differences</a:t>
            </a:r>
          </a:p>
          <a:p>
            <a:pPr lvl="1"/>
            <a:r>
              <a:rPr lang="en-GB" dirty="0"/>
              <a:t>Using recent advances in queuing theory (…yes…) we designed a policy to decrease waiting times by 40% </a:t>
            </a:r>
          </a:p>
          <a:p>
            <a:r>
              <a:rPr lang="en-GB" dirty="0"/>
              <a:t>Doctor allocation </a:t>
            </a:r>
            <a:r>
              <a:rPr lang="en-GB" sz="1600" dirty="0"/>
              <a:t>[in progress] 							 </a:t>
            </a:r>
            <a:r>
              <a:rPr lang="en-GB" dirty="0">
                <a:hlinkClick r:id="rId5" action="ppaction://hlinksldjump"/>
              </a:rPr>
              <a:t>DETAILS</a:t>
            </a:r>
            <a:endParaRPr lang="en-GB" dirty="0"/>
          </a:p>
          <a:p>
            <a:pPr lvl="1"/>
            <a:r>
              <a:rPr lang="en-GB" dirty="0"/>
              <a:t>Junior doctors get placed in Foundation roles through an annual centralised matching procedure </a:t>
            </a:r>
          </a:p>
          <a:p>
            <a:pPr lvl="1"/>
            <a:r>
              <a:rPr lang="en-GB" dirty="0"/>
              <a:t>In 2023 they changed the matching algorithm, requiring doctors to think strategically, and changed how doctors are ranked</a:t>
            </a:r>
          </a:p>
          <a:p>
            <a:pPr lvl="1"/>
            <a:r>
              <a:rPr lang="en-GB" dirty="0"/>
              <a:t>Are doctors correctly </a:t>
            </a:r>
            <a:r>
              <a:rPr lang="en-GB" dirty="0" err="1"/>
              <a:t>strategising</a:t>
            </a:r>
            <a:r>
              <a:rPr lang="en-GB" dirty="0"/>
              <a:t>? Is anyone falling through the cracks? Impacts on doctor retention?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02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47E2-9BDB-6EEA-49A4-14C77712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School Choice:</a:t>
            </a:r>
            <a:br>
              <a:rPr lang="en-GB" dirty="0"/>
            </a:br>
            <a:r>
              <a:rPr lang="en-GB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B11A-36F9-30CF-B61E-08384EF2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GB" dirty="0"/>
              <a:t>How do we allocate students to high schools?</a:t>
            </a:r>
          </a:p>
          <a:p>
            <a:pPr lvl="1"/>
            <a:r>
              <a:rPr lang="en-GB" dirty="0"/>
              <a:t>Students want to be in good schools, and close to home</a:t>
            </a:r>
          </a:p>
          <a:p>
            <a:pPr lvl="1"/>
            <a:r>
              <a:rPr lang="en-GB" dirty="0"/>
              <a:t>Schools have “preferences” over students (Siblings, Commuting Zones, Diversity, Grades?)</a:t>
            </a:r>
          </a:p>
          <a:p>
            <a:r>
              <a:rPr lang="en-GB" dirty="0"/>
              <a:t>In the UK this is centralised</a:t>
            </a:r>
          </a:p>
          <a:p>
            <a:pPr lvl="1"/>
            <a:r>
              <a:rPr lang="en-GB" dirty="0"/>
              <a:t>Students rank schools, Schools “rank” students</a:t>
            </a:r>
          </a:p>
          <a:p>
            <a:pPr lvl="1"/>
            <a:r>
              <a:rPr lang="en-GB" dirty="0"/>
              <a:t>An algorithm assigns students to schools</a:t>
            </a:r>
          </a:p>
          <a:p>
            <a:r>
              <a:rPr lang="en-GB" dirty="0"/>
              <a:t>How should we design this algorithm? 					      </a:t>
            </a:r>
            <a:r>
              <a:rPr lang="en-GB" sz="1600" dirty="0">
                <a:hlinkClick r:id="rId2" action="ppaction://hlinksldjump"/>
              </a:rPr>
              <a:t>DETAILS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168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4C1B-37F9-3B85-86F1-C9791514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Doctor Allocation:</a:t>
            </a:r>
            <a:br>
              <a:rPr lang="en-GB" dirty="0"/>
            </a:br>
            <a:r>
              <a:rPr lang="en-GB" dirty="0"/>
              <a:t>	</a:t>
            </a:r>
            <a:br>
              <a:rPr lang="en-GB" dirty="0"/>
            </a:br>
            <a:r>
              <a:rPr lang="en-GB" sz="1200" dirty="0"/>
              <a:t>From Roth (1984)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FF1A-3FF4-7795-3158-EE69EF9D6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93044"/>
          </a:xfrm>
        </p:spPr>
        <p:txBody>
          <a:bodyPr>
            <a:normAutofit/>
          </a:bodyPr>
          <a:lstStyle/>
          <a:p>
            <a:r>
              <a:rPr lang="en-GB" dirty="0"/>
              <a:t>Since 1950s the job market for medical residents in the USA has been centralised</a:t>
            </a:r>
          </a:p>
          <a:p>
            <a:pPr lvl="1"/>
            <a:r>
              <a:rPr lang="en-US" dirty="0"/>
              <a:t>Doctors rank Hospitals, Hospitals rank Doctors, then an algorithm forms the match</a:t>
            </a:r>
          </a:p>
          <a:p>
            <a:r>
              <a:rPr lang="en-GB" dirty="0"/>
              <a:t>Matching is performed using an algorithm known as “</a:t>
            </a:r>
            <a:r>
              <a:rPr lang="en-GB" dirty="0">
                <a:hlinkClick r:id="rId2" action="ppaction://hlinksldjump"/>
              </a:rPr>
              <a:t>Deferred-Acceptance</a:t>
            </a:r>
            <a:r>
              <a:rPr lang="en-GB" dirty="0"/>
              <a:t>”</a:t>
            </a:r>
          </a:p>
          <a:p>
            <a:pPr lvl="1"/>
            <a:r>
              <a:rPr lang="en-US" dirty="0"/>
              <a:t>Doctors have an incentive to rank hospitals truthfully – No </a:t>
            </a:r>
            <a:r>
              <a:rPr lang="en-US" dirty="0" err="1"/>
              <a:t>Strategising</a:t>
            </a:r>
            <a:endParaRPr lang="en-US" dirty="0"/>
          </a:p>
          <a:p>
            <a:pPr lvl="1"/>
            <a:r>
              <a:rPr lang="en-US" dirty="0"/>
              <a:t>This ensures the resulting match is “stable” [No blocking pairs]</a:t>
            </a:r>
          </a:p>
          <a:p>
            <a:endParaRPr lang="en-GB" dirty="0"/>
          </a:p>
          <a:p>
            <a:r>
              <a:rPr lang="en-GB" dirty="0"/>
              <a:t>However, this problem is much simpler than the one faced by the fire brigade</a:t>
            </a:r>
          </a:p>
          <a:p>
            <a:pPr lvl="1"/>
            <a:r>
              <a:rPr lang="en-GB" dirty="0"/>
              <a:t>New firefighters “arrive” in batches</a:t>
            </a:r>
          </a:p>
          <a:p>
            <a:pPr lvl="1"/>
            <a:r>
              <a:rPr lang="en-GB" dirty="0"/>
              <a:t>Firefighters join transfer lists to move around every few years </a:t>
            </a:r>
          </a:p>
        </p:txBody>
      </p:sp>
    </p:spTree>
    <p:extLst>
      <p:ext uri="{BB962C8B-B14F-4D97-AF65-F5344CB8AC3E}">
        <p14:creationId xmlns:p14="http://schemas.microsoft.com/office/powerpoint/2010/main" val="18514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C598-4B87-CEE5-6B87-AC017C04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TEACHER ALLOCATION:</a:t>
            </a:r>
            <a:br>
              <a:rPr lang="en-US" dirty="0"/>
            </a:br>
            <a:r>
              <a:rPr lang="en-US" dirty="0"/>
              <a:t>	THE PROBLEM 						</a:t>
            </a:r>
            <a:r>
              <a:rPr lang="en-US" sz="1200" dirty="0">
                <a:hlinkClick r:id="rId2" action="ppaction://hlinksldjump"/>
              </a:rPr>
              <a:t>other problems</a:t>
            </a:r>
            <a:br>
              <a:rPr lang="en-US" dirty="0"/>
            </a:br>
            <a:r>
              <a:rPr lang="en-US" sz="1200" dirty="0"/>
              <a:t>from </a:t>
            </a:r>
            <a:r>
              <a:rPr lang="en-US" sz="1200" dirty="0" err="1"/>
              <a:t>combe</a:t>
            </a:r>
            <a:r>
              <a:rPr lang="en-US" sz="1200" dirty="0"/>
              <a:t>, terrier, and </a:t>
            </a:r>
            <a:r>
              <a:rPr lang="en-US" sz="1200" dirty="0" err="1"/>
              <a:t>tercieux</a:t>
            </a:r>
            <a:r>
              <a:rPr lang="en-US" sz="1200" dirty="0"/>
              <a:t> (2022,2025, forthcoming)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5E57-38C9-261F-D6F8-5F1881FB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75003"/>
          </a:xfrm>
        </p:spPr>
        <p:txBody>
          <a:bodyPr>
            <a:normAutofit/>
          </a:bodyPr>
          <a:lstStyle/>
          <a:p>
            <a:r>
              <a:rPr lang="en-US" dirty="0"/>
              <a:t>Teachers have preferences over schools, schools want the best teachers</a:t>
            </a:r>
          </a:p>
          <a:p>
            <a:r>
              <a:rPr lang="en-US" dirty="0"/>
              <a:t>This is a fundamentally dynamic problem: </a:t>
            </a:r>
          </a:p>
          <a:p>
            <a:pPr lvl="1"/>
            <a:r>
              <a:rPr lang="en-US" dirty="0"/>
              <a:t>New teachers move around to build experience, old teachers move somewhere cozy to settle</a:t>
            </a:r>
          </a:p>
          <a:p>
            <a:r>
              <a:rPr lang="en-US" dirty="0"/>
              <a:t>In many countries, allocation is </a:t>
            </a:r>
            <a:r>
              <a:rPr lang="en-US" dirty="0" err="1"/>
              <a:t>centralised</a:t>
            </a:r>
            <a:r>
              <a:rPr lang="en-US" dirty="0"/>
              <a:t> and happens </a:t>
            </a:r>
            <a:r>
              <a:rPr lang="en-US" i="1" dirty="0"/>
              <a:t>each year </a:t>
            </a:r>
            <a:endParaRPr lang="en-US" dirty="0"/>
          </a:p>
          <a:p>
            <a:pPr lvl="1"/>
            <a:r>
              <a:rPr lang="en-US" dirty="0"/>
              <a:t>Teachers rank schools – the default is to put their current school at the top</a:t>
            </a:r>
          </a:p>
          <a:p>
            <a:pPr lvl="1"/>
            <a:r>
              <a:rPr lang="en-US" dirty="0"/>
              <a:t>Schools rank teachers, and an </a:t>
            </a:r>
            <a:r>
              <a:rPr lang="en-US" dirty="0">
                <a:hlinkClick r:id="rId3" action="ppaction://hlinksldjump"/>
              </a:rPr>
              <a:t>algorithm</a:t>
            </a:r>
            <a:r>
              <a:rPr lang="en-US" dirty="0"/>
              <a:t> assigns teachers to their new (or old) schools</a:t>
            </a:r>
          </a:p>
          <a:p>
            <a:endParaRPr lang="en-US" dirty="0"/>
          </a:p>
          <a:p>
            <a:r>
              <a:rPr lang="en-US" dirty="0"/>
              <a:t>This algorithm could be adapted for to facilitate transfers across the LFB</a:t>
            </a:r>
          </a:p>
          <a:p>
            <a:pPr lvl="1"/>
            <a:r>
              <a:rPr lang="en-US" dirty="0"/>
              <a:t>It can be adapted to incorporate various constraints, as well as other priorities of the brigade</a:t>
            </a:r>
          </a:p>
        </p:txBody>
      </p:sp>
    </p:spTree>
    <p:extLst>
      <p:ext uri="{BB962C8B-B14F-4D97-AF65-F5344CB8AC3E}">
        <p14:creationId xmlns:p14="http://schemas.microsoft.com/office/powerpoint/2010/main" val="196000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F7CE-8D7F-A0E8-94B0-C44C9131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F998-27F8-848D-DAB3-D79CB766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TEACHER ALLOCATION:</a:t>
            </a:r>
            <a:br>
              <a:rPr lang="en-US" dirty="0"/>
            </a:br>
            <a:r>
              <a:rPr lang="en-US" dirty="0"/>
              <a:t>	Dynamics							</a:t>
            </a:r>
            <a:r>
              <a:rPr lang="en-US" sz="1200" dirty="0">
                <a:hlinkClick r:id="rId2" action="ppaction://hlinksldjump"/>
              </a:rPr>
              <a:t>other problems</a:t>
            </a:r>
            <a:br>
              <a:rPr lang="en-US" dirty="0"/>
            </a:br>
            <a:r>
              <a:rPr lang="en-US" sz="1200" dirty="0"/>
              <a:t>from </a:t>
            </a:r>
            <a:r>
              <a:rPr lang="en-US" sz="1200" dirty="0" err="1"/>
              <a:t>combe</a:t>
            </a:r>
            <a:r>
              <a:rPr lang="en-US" sz="1200" dirty="0"/>
              <a:t>, terrier, and </a:t>
            </a:r>
            <a:r>
              <a:rPr lang="en-US" sz="1200" dirty="0" err="1"/>
              <a:t>tercieux</a:t>
            </a:r>
            <a:r>
              <a:rPr lang="en-US" sz="1200" dirty="0"/>
              <a:t> (2022,2025, forthcoming)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202F-8063-0C4C-2BAD-2ECD136A6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7500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a good distribution of teachers across schools</a:t>
            </a:r>
          </a:p>
          <a:p>
            <a:pPr lvl="1"/>
            <a:r>
              <a:rPr lang="en-US" dirty="0"/>
              <a:t>Disadvantaged schools often struggle to attract good teachers / retain experienced teachers</a:t>
            </a:r>
          </a:p>
          <a:p>
            <a:pPr lvl="1"/>
            <a:r>
              <a:rPr lang="en-US" dirty="0"/>
              <a:t>We could just </a:t>
            </a:r>
            <a:r>
              <a:rPr lang="en-US" b="1" dirty="0"/>
              <a:t>pay</a:t>
            </a:r>
            <a:r>
              <a:rPr lang="en-US" dirty="0"/>
              <a:t> more at disadvantaged schools (this is undesirable)</a:t>
            </a:r>
          </a:p>
          <a:p>
            <a:r>
              <a:rPr lang="en-US" dirty="0"/>
              <a:t>In several countries teachers get extra priority if they taught at a disadvantaged school</a:t>
            </a:r>
          </a:p>
          <a:p>
            <a:pPr lvl="1"/>
            <a:r>
              <a:rPr lang="en-US" dirty="0"/>
              <a:t>This gives them an extra incentive to go low SES</a:t>
            </a:r>
          </a:p>
          <a:p>
            <a:pPr lvl="1"/>
            <a:r>
              <a:rPr lang="en-US" dirty="0"/>
              <a:t>But, how to design this priority is important – you risk only having inexperienced teachers</a:t>
            </a:r>
          </a:p>
          <a:p>
            <a:r>
              <a:rPr lang="en-US" dirty="0"/>
              <a:t>A similar policy is used to encourage Cadets in the U.S. military to enlist for longer terms</a:t>
            </a:r>
          </a:p>
          <a:p>
            <a:pPr lvl="1"/>
            <a:r>
              <a:rPr lang="en-US" dirty="0"/>
              <a:t>In return, they get higher priority at their preferred placements 			      </a:t>
            </a:r>
            <a:r>
              <a:rPr lang="en-US" sz="1700" dirty="0">
                <a:hlinkClick r:id="rId3" action="ppaction://hlinksldjump"/>
              </a:rPr>
              <a:t>DETAILS</a:t>
            </a:r>
            <a:endParaRPr lang="en-US" sz="1700" dirty="0"/>
          </a:p>
          <a:p>
            <a:endParaRPr lang="en-US" dirty="0"/>
          </a:p>
          <a:p>
            <a:r>
              <a:rPr lang="en-US" dirty="0"/>
              <a:t>This type of policy could help the brigade </a:t>
            </a:r>
            <a:r>
              <a:rPr lang="en-US" dirty="0" err="1"/>
              <a:t>incentivise</a:t>
            </a:r>
            <a:r>
              <a:rPr lang="en-US" dirty="0"/>
              <a:t> firefighters to go to Command Unit</a:t>
            </a:r>
          </a:p>
          <a:p>
            <a:pPr lvl="1"/>
            <a:r>
              <a:rPr lang="en-US" dirty="0"/>
              <a:t>E.g. Spend six years at an Command Unit, then go straight to the top of the priority list</a:t>
            </a:r>
          </a:p>
        </p:txBody>
      </p:sp>
    </p:spTree>
    <p:extLst>
      <p:ext uri="{BB962C8B-B14F-4D97-AF65-F5344CB8AC3E}">
        <p14:creationId xmlns:p14="http://schemas.microsoft.com/office/powerpoint/2010/main" val="225446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746B-E33C-8933-133B-B87369C1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 can do for you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79D0-EF2F-9C5E-DC7E-069983050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Identifying potential transfers:</a:t>
            </a:r>
          </a:p>
          <a:p>
            <a:pPr lvl="1"/>
            <a:r>
              <a:rPr lang="en-US" dirty="0"/>
              <a:t>Find pairs and chains of transfers based on lists --- Using insights from Teacher Allocation</a:t>
            </a:r>
          </a:p>
          <a:p>
            <a:pPr lvl="1"/>
            <a:r>
              <a:rPr lang="en-US" dirty="0"/>
              <a:t>Suggesting transfers, and identifying key blockages</a:t>
            </a:r>
          </a:p>
          <a:p>
            <a:r>
              <a:rPr lang="en-US" dirty="0"/>
              <a:t>Skills incentives:</a:t>
            </a:r>
          </a:p>
          <a:p>
            <a:pPr lvl="1"/>
            <a:r>
              <a:rPr lang="en-US" dirty="0"/>
              <a:t>FRU training is costly, don’t want people to get the training, then quickly transfer out</a:t>
            </a:r>
          </a:p>
          <a:p>
            <a:pPr lvl="1"/>
            <a:r>
              <a:rPr lang="en-US" dirty="0"/>
              <a:t>Don’t want to put people off training if they think they’ll get stuck at that station [“hold up”]</a:t>
            </a:r>
          </a:p>
          <a:p>
            <a:r>
              <a:rPr lang="en-US" dirty="0"/>
              <a:t>Initial allocations:</a:t>
            </a:r>
          </a:p>
          <a:p>
            <a:pPr lvl="1"/>
            <a:r>
              <a:rPr lang="en-US" dirty="0"/>
              <a:t>Firefighters given initial allocation according to commute time and vacancies </a:t>
            </a:r>
          </a:p>
          <a:p>
            <a:pPr lvl="1"/>
            <a:r>
              <a:rPr lang="en-US" dirty="0"/>
              <a:t>New firefighters allocated in batches, use overlapping batches to improve matches (!!!)</a:t>
            </a:r>
          </a:p>
        </p:txBody>
      </p:sp>
    </p:spTree>
    <p:extLst>
      <p:ext uri="{BB962C8B-B14F-4D97-AF65-F5344CB8AC3E}">
        <p14:creationId xmlns:p14="http://schemas.microsoft.com/office/powerpoint/2010/main" val="654086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6E94-47D8-5CCC-D695-E36061F8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4702-7823-B83A-ACB4-27DF6499C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want to do research</a:t>
            </a:r>
          </a:p>
          <a:p>
            <a:pPr lvl="1"/>
            <a:r>
              <a:rPr lang="en-US" dirty="0"/>
              <a:t>Understand your specific challenges</a:t>
            </a:r>
          </a:p>
          <a:p>
            <a:pPr lvl="1"/>
            <a:r>
              <a:rPr lang="en-US" dirty="0"/>
              <a:t>Work with you to investigate remedies 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Help me have “impact”</a:t>
            </a:r>
          </a:p>
          <a:p>
            <a:r>
              <a:rPr lang="en-US" dirty="0"/>
              <a:t>I want to write and publish papers</a:t>
            </a:r>
          </a:p>
          <a:p>
            <a:pPr lvl="1"/>
            <a:r>
              <a:rPr lang="en-US" dirty="0"/>
              <a:t>Based on data sharing agreements (E.g. I need to see transfer lists)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 want to apply for grants</a:t>
            </a:r>
          </a:p>
          <a:p>
            <a:pPr lvl="1"/>
            <a:r>
              <a:rPr lang="en-US" dirty="0"/>
              <a:t>Internal grants (~20k), external grants (~200k)</a:t>
            </a:r>
          </a:p>
          <a:p>
            <a:pPr lvl="1"/>
            <a:r>
              <a:rPr lang="en-US" dirty="0"/>
              <a:t>Use to fund surveys, PhD students, researchers, </a:t>
            </a:r>
            <a:r>
              <a:rPr lang="en-US" i="1" dirty="0"/>
              <a:t>[Eventually] </a:t>
            </a:r>
            <a:r>
              <a:rPr lang="en-US" dirty="0"/>
              <a:t>build platforms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Partnership with an </a:t>
            </a:r>
            <a:r>
              <a:rPr lang="en-US" dirty="0" err="1"/>
              <a:t>organisation</a:t>
            </a:r>
            <a:r>
              <a:rPr lang="en-US" dirty="0"/>
              <a:t> really helps</a:t>
            </a:r>
          </a:p>
        </p:txBody>
      </p:sp>
    </p:spTree>
    <p:extLst>
      <p:ext uri="{BB962C8B-B14F-4D97-AF65-F5344CB8AC3E}">
        <p14:creationId xmlns:p14="http://schemas.microsoft.com/office/powerpoint/2010/main" val="372853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BF44-311B-0A22-1AFD-61193427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 Previous work: </a:t>
            </a:r>
            <a:br>
              <a:rPr lang="en-US" dirty="0"/>
            </a:br>
            <a:r>
              <a:rPr lang="en-US" dirty="0"/>
              <a:t>	Food Banks 						</a:t>
            </a:r>
            <a:r>
              <a:rPr lang="en-US" sz="2200" dirty="0">
                <a:hlinkClick r:id="rId2" action="ppaction://hlinksldjump"/>
              </a:rPr>
              <a:t>Return</a:t>
            </a: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5B6C-4DE8-5E83-DE3D-510F549A1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Feeding America distributes 100,000 </a:t>
            </a:r>
            <a:r>
              <a:rPr lang="en-US" dirty="0" err="1"/>
              <a:t>tonnes</a:t>
            </a:r>
            <a:r>
              <a:rPr lang="en-US" dirty="0"/>
              <a:t> of food to food banks each year</a:t>
            </a:r>
          </a:p>
          <a:p>
            <a:pPr lvl="1"/>
            <a:r>
              <a:rPr lang="en-US" dirty="0"/>
              <a:t>Until 2005, they essentially offered to food banks at random</a:t>
            </a:r>
          </a:p>
          <a:p>
            <a:r>
              <a:rPr lang="en-US" dirty="0"/>
              <a:t>The new mechanism has food banks bid on food using tokens</a:t>
            </a:r>
          </a:p>
          <a:p>
            <a:pPr lvl="1"/>
            <a:r>
              <a:rPr lang="en-US" dirty="0"/>
              <a:t>Food banks in areas with more poverty get more tokens, so more food</a:t>
            </a:r>
          </a:p>
          <a:p>
            <a:r>
              <a:rPr lang="en-US" dirty="0"/>
              <a:t>I looked into the benefit of this new mechanism, and why the mechanism is so popular</a:t>
            </a:r>
          </a:p>
          <a:p>
            <a:pPr lvl="1"/>
            <a:r>
              <a:rPr lang="en-US" dirty="0"/>
              <a:t>Big welfare benefits, driven by heterogeneity in what different food banks wanted</a:t>
            </a:r>
          </a:p>
          <a:p>
            <a:pPr lvl="1"/>
            <a:r>
              <a:rPr lang="en-US" dirty="0"/>
              <a:t>All about giving food banks more information about the food available (bigger batches)</a:t>
            </a:r>
          </a:p>
          <a:p>
            <a:pPr lvl="2"/>
            <a:r>
              <a:rPr lang="en-US" dirty="0"/>
              <a:t>This allowed food banks to “sort” according to the types of food they needed</a:t>
            </a:r>
          </a:p>
        </p:txBody>
      </p:sp>
    </p:spTree>
    <p:extLst>
      <p:ext uri="{BB962C8B-B14F-4D97-AF65-F5344CB8AC3E}">
        <p14:creationId xmlns:p14="http://schemas.microsoft.com/office/powerpoint/2010/main" val="355212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B256-62A4-60E8-A4CD-4A62098E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C824-08D1-E764-5D6A-03EC9E61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 Previous work: </a:t>
            </a:r>
            <a:br>
              <a:rPr lang="en-US" dirty="0"/>
            </a:br>
            <a:r>
              <a:rPr lang="en-US" dirty="0"/>
              <a:t>	Council Housing					</a:t>
            </a:r>
            <a:r>
              <a:rPr lang="en-US" sz="2200" dirty="0">
                <a:hlinkClick r:id="rId2" action="ppaction://hlinksldjump"/>
              </a:rPr>
              <a:t>Return</a:t>
            </a: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41B-7288-5D4B-1BE1-9C302B2E0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139059" cy="41750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Councils face a trade off between “match quality” and “targeting”</a:t>
            </a:r>
          </a:p>
          <a:p>
            <a:pPr lvl="1"/>
            <a:r>
              <a:rPr lang="en-US" dirty="0"/>
              <a:t>If give lots of choice, people can wait for a long time (+empty houses)</a:t>
            </a:r>
          </a:p>
          <a:p>
            <a:pPr lvl="1"/>
            <a:r>
              <a:rPr lang="en-US" dirty="0"/>
              <a:t>If give little choice, people get houses quickly, but they are unhappy</a:t>
            </a:r>
          </a:p>
          <a:p>
            <a:r>
              <a:rPr lang="en-US" dirty="0"/>
              <a:t>Worked with 6 UK councils investigating these trade offs [horizontal vs vertical heterogeneity]</a:t>
            </a:r>
          </a:p>
          <a:p>
            <a:pPr lvl="1"/>
            <a:r>
              <a:rPr lang="en-US" dirty="0"/>
              <a:t>People in TA or HA properties would often be happy to wait for the perfect house</a:t>
            </a:r>
          </a:p>
          <a:p>
            <a:r>
              <a:rPr lang="en-US" dirty="0"/>
              <a:t>Proposed the “Multiple Waiting List” design [Thakral, 2016]</a:t>
            </a:r>
          </a:p>
          <a:p>
            <a:pPr lvl="1"/>
            <a:r>
              <a:rPr lang="en-US" dirty="0"/>
              <a:t>People queue for “any” house, and get offered first house available.</a:t>
            </a:r>
          </a:p>
          <a:p>
            <a:pPr lvl="2"/>
            <a:r>
              <a:rPr lang="en-US" dirty="0"/>
              <a:t>if they reject the house, they can join a queue for more specific types of house (e.g. geography) </a:t>
            </a:r>
          </a:p>
          <a:p>
            <a:pPr lvl="1"/>
            <a:r>
              <a:rPr lang="en-US" dirty="0"/>
              <a:t>Estimated that this could cut waiting times by 40%</a:t>
            </a:r>
          </a:p>
          <a:p>
            <a:pPr lvl="2"/>
            <a:r>
              <a:rPr lang="en-US" dirty="0"/>
              <a:t>+ reduce the time houses spent vacant by a similar amount</a:t>
            </a:r>
          </a:p>
          <a:p>
            <a:r>
              <a:rPr lang="en-US" i="1" dirty="0"/>
              <a:t>[more recently] </a:t>
            </a:r>
            <a:r>
              <a:rPr lang="en-US" dirty="0"/>
              <a:t>Working to understand scope of demand for council house swaps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98951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61E4-D0E7-FFE7-E1CA-5ED214C3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FC5D-3741-49FD-6DC5-745F707B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 Previous work: </a:t>
            </a:r>
            <a:br>
              <a:rPr lang="en-US" dirty="0"/>
            </a:br>
            <a:r>
              <a:rPr lang="en-US" dirty="0"/>
              <a:t>	Ride Sharing						</a:t>
            </a:r>
            <a:r>
              <a:rPr lang="en-US" sz="2200" dirty="0">
                <a:hlinkClick r:id="rId2" action="ppaction://hlinksldjump"/>
              </a:rPr>
              <a:t>Return</a:t>
            </a: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C9D24-7D6C-C15A-DE64-6B7C9843B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87360"/>
          </a:xfrm>
        </p:spPr>
        <p:txBody>
          <a:bodyPr>
            <a:normAutofit/>
          </a:bodyPr>
          <a:lstStyle/>
          <a:p>
            <a:r>
              <a:rPr lang="en-US" dirty="0" err="1"/>
              <a:t>Blablacar</a:t>
            </a:r>
            <a:r>
              <a:rPr lang="en-US" dirty="0"/>
              <a:t> matches those with a spare seat in their car, with those looking to travel</a:t>
            </a:r>
          </a:p>
          <a:p>
            <a:pPr lvl="1"/>
            <a:r>
              <a:rPr lang="en-US" dirty="0"/>
              <a:t>Predominantly inter-city travel, with non-professionals (unlike Uber)</a:t>
            </a:r>
          </a:p>
          <a:p>
            <a:r>
              <a:rPr lang="en-US" dirty="0"/>
              <a:t>Most matches happen &lt;72 hours before departure</a:t>
            </a:r>
          </a:p>
          <a:p>
            <a:pPr lvl="1"/>
            <a:r>
              <a:rPr lang="en-US" dirty="0"/>
              <a:t>50% of Seats unfilled, 60% of passengers without seats</a:t>
            </a:r>
          </a:p>
          <a:p>
            <a:pPr lvl="1"/>
            <a:r>
              <a:rPr lang="en-US" dirty="0"/>
              <a:t>Is this a preference? Or is there something wrong with the platform?</a:t>
            </a:r>
          </a:p>
          <a:p>
            <a:r>
              <a:rPr lang="en-US" dirty="0"/>
              <a:t>Currently trialing a mechanism to encourage earlier matches [seat guarantees]</a:t>
            </a:r>
          </a:p>
          <a:p>
            <a:pPr lvl="1"/>
            <a:r>
              <a:rPr lang="en-US" dirty="0"/>
              <a:t>Removing additional frictions to forming quick matches</a:t>
            </a:r>
          </a:p>
          <a:p>
            <a:pPr lvl="1"/>
            <a:r>
              <a:rPr lang="en-US" dirty="0"/>
              <a:t>Early results:</a:t>
            </a:r>
          </a:p>
          <a:p>
            <a:pPr lvl="2"/>
            <a:r>
              <a:rPr lang="en-US" dirty="0"/>
              <a:t>Matches don’t occur earlier</a:t>
            </a:r>
          </a:p>
          <a:p>
            <a:pPr lvl="2"/>
            <a:r>
              <a:rPr lang="en-US" dirty="0"/>
              <a:t>But more matches occur</a:t>
            </a:r>
          </a:p>
        </p:txBody>
      </p:sp>
    </p:spTree>
    <p:extLst>
      <p:ext uri="{BB962C8B-B14F-4D97-AF65-F5344CB8AC3E}">
        <p14:creationId xmlns:p14="http://schemas.microsoft.com/office/powerpoint/2010/main" val="2733073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0103-066A-4CA9-EC75-5695BCF5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3ECF-FC73-B35A-BF1E-87696FC9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 Previous work: </a:t>
            </a:r>
            <a:br>
              <a:rPr lang="en-US" dirty="0"/>
            </a:br>
            <a:r>
              <a:rPr lang="en-US" dirty="0"/>
              <a:t>	Doctor Allocation				</a:t>
            </a:r>
            <a:r>
              <a:rPr lang="en-US" sz="2200" dirty="0">
                <a:hlinkClick r:id="rId2" action="ppaction://hlinksldjump"/>
              </a:rPr>
              <a:t>Return</a:t>
            </a: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938F-9E11-A8FC-B92C-5891E6C3B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9971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Junior doctors are allocated to Foundation Programmes (first proper hospital position)</a:t>
            </a:r>
          </a:p>
          <a:p>
            <a:pPr lvl="1"/>
            <a:r>
              <a:rPr lang="en-GB" dirty="0"/>
              <a:t>Doctors rank programmes. Programmes rank doctors. An algorithm determines the match.</a:t>
            </a:r>
          </a:p>
          <a:p>
            <a:pPr lvl="1"/>
            <a:r>
              <a:rPr lang="en-GB" dirty="0"/>
              <a:t>Doctor ranking was previously based on exam results </a:t>
            </a:r>
          </a:p>
          <a:p>
            <a:r>
              <a:rPr lang="en-GB" dirty="0"/>
              <a:t>In 2023 they changed the algorithm and how doctors are ranked.</a:t>
            </a:r>
          </a:p>
          <a:p>
            <a:pPr lvl="1"/>
            <a:r>
              <a:rPr lang="en-GB" dirty="0"/>
              <a:t>Moved to a “strategic” algorithm – the higher you rank the programme, the more likely you get in</a:t>
            </a:r>
          </a:p>
          <a:p>
            <a:pPr lvl="1"/>
            <a:r>
              <a:rPr lang="en-GB" dirty="0"/>
              <a:t>Doctor ranking is now entirely random </a:t>
            </a:r>
          </a:p>
          <a:p>
            <a:r>
              <a:rPr lang="en-GB" dirty="0"/>
              <a:t>We are investigating if this will achieve their aims, whether there are better alternatives</a:t>
            </a:r>
          </a:p>
          <a:p>
            <a:pPr lvl="1"/>
            <a:r>
              <a:rPr lang="en-GB" dirty="0"/>
              <a:t>Early results suggest exam results fell, but no impact on doctor quality</a:t>
            </a:r>
          </a:p>
          <a:p>
            <a:pPr lvl="1"/>
            <a:r>
              <a:rPr lang="en-GB" dirty="0"/>
              <a:t>It is harder to know how you will place and how you </a:t>
            </a:r>
            <a:r>
              <a:rPr lang="en-GB" b="1" dirty="0"/>
              <a:t>should</a:t>
            </a:r>
            <a:r>
              <a:rPr lang="en-GB" dirty="0"/>
              <a:t> apply</a:t>
            </a:r>
          </a:p>
          <a:p>
            <a:pPr lvl="1"/>
            <a:r>
              <a:rPr lang="en-GB" dirty="0"/>
              <a:t>We are investigating differential impacts on doctors from different backgrounds</a:t>
            </a:r>
          </a:p>
          <a:p>
            <a:pPr lvl="1"/>
            <a:r>
              <a:rPr lang="en-GB" dirty="0"/>
              <a:t>+ How will this impact retention of junior doctors?</a:t>
            </a:r>
          </a:p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22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B23C-2CFD-D907-9829-6577AF15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Doctor Allocation:</a:t>
            </a:r>
            <a:br>
              <a:rPr lang="en-GB" dirty="0"/>
            </a:br>
            <a:r>
              <a:rPr lang="en-GB" dirty="0"/>
              <a:t>	Challenges and Lessons			</a:t>
            </a:r>
            <a:r>
              <a:rPr lang="en-GB" sz="2000" dirty="0">
                <a:hlinkClick r:id="rId2" action="ppaction://hlinksldjump"/>
              </a:rPr>
              <a:t>Return</a:t>
            </a:r>
            <a:br>
              <a:rPr lang="en-GB" dirty="0"/>
            </a:br>
            <a:r>
              <a:rPr lang="en-GB" sz="1200" dirty="0"/>
              <a:t>From Roth (1986)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377EC-44EC-09CB-6299-5F2ABFB87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19892"/>
          </a:xfrm>
        </p:spPr>
        <p:txBody>
          <a:bodyPr>
            <a:normAutofit/>
          </a:bodyPr>
          <a:lstStyle/>
          <a:p>
            <a:r>
              <a:rPr lang="en-GB" dirty="0"/>
              <a:t>Rural Hospitals</a:t>
            </a:r>
          </a:p>
          <a:p>
            <a:pPr lvl="1"/>
            <a:r>
              <a:rPr lang="en-GB" dirty="0"/>
              <a:t>No one wants to be in a rural hospital. Rural hospitals end up with lower quality doctors</a:t>
            </a:r>
          </a:p>
          <a:p>
            <a:pPr lvl="1"/>
            <a:r>
              <a:rPr lang="en-GB" dirty="0"/>
              <a:t>The choice of algorithm doesn’t help. You have to make the hospital more attractive somehow</a:t>
            </a:r>
          </a:p>
          <a:p>
            <a:pPr lvl="1"/>
            <a:r>
              <a:rPr lang="en-GB" dirty="0"/>
              <a:t>This is particularly a problem for allocating teachers to schools</a:t>
            </a:r>
          </a:p>
          <a:p>
            <a:r>
              <a:rPr lang="en-GB" dirty="0"/>
              <a:t>Couples</a:t>
            </a:r>
          </a:p>
          <a:p>
            <a:pPr lvl="1"/>
            <a:r>
              <a:rPr lang="en-GB" dirty="0"/>
              <a:t>Many doctors have a partner who is also a doctor</a:t>
            </a:r>
          </a:p>
          <a:p>
            <a:pPr lvl="1"/>
            <a:r>
              <a:rPr lang="en-GB" dirty="0"/>
              <a:t>This can create </a:t>
            </a:r>
            <a:r>
              <a:rPr lang="en-GB" i="1" dirty="0"/>
              <a:t>instability</a:t>
            </a:r>
            <a:r>
              <a:rPr lang="en-GB" dirty="0"/>
              <a:t>, due to their complementarities</a:t>
            </a:r>
          </a:p>
          <a:p>
            <a:pPr lvl="1"/>
            <a:r>
              <a:rPr lang="en-GB" dirty="0"/>
              <a:t>Rough solution: match them together, or match them first</a:t>
            </a:r>
          </a:p>
        </p:txBody>
      </p:sp>
    </p:spTree>
    <p:extLst>
      <p:ext uri="{BB962C8B-B14F-4D97-AF65-F5344CB8AC3E}">
        <p14:creationId xmlns:p14="http://schemas.microsoft.com/office/powerpoint/2010/main" val="190638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12CA-AE64-5688-1DDF-664BD5A3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Doctor Allocation:</a:t>
            </a:r>
            <a:br>
              <a:rPr lang="en-GB" dirty="0"/>
            </a:br>
            <a:r>
              <a:rPr lang="en-GB" dirty="0"/>
              <a:t>	Two Algorithms					</a:t>
            </a:r>
            <a:r>
              <a:rPr lang="en-GB" sz="1800" dirty="0">
                <a:hlinkClick r:id="rId2" action="ppaction://hlinksldjump"/>
              </a:rPr>
              <a:t>Return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D2EF4-B8DC-61E1-DDCC-5B23BA92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1989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Immediate Acceptance:							     </a:t>
            </a:r>
            <a:r>
              <a:rPr lang="en-GB" dirty="0">
                <a:hlinkClick r:id="rId3" action="ppaction://hlinksldjump"/>
              </a:rPr>
              <a:t>EXAMPLE</a:t>
            </a:r>
            <a:endParaRPr lang="en-GB" dirty="0"/>
          </a:p>
          <a:p>
            <a:pPr lvl="1"/>
            <a:r>
              <a:rPr lang="en-GB" dirty="0"/>
              <a:t>Step 1:  Assign as many doctors their first choice hospital as possible. </a:t>
            </a:r>
          </a:p>
          <a:p>
            <a:pPr lvl="2"/>
            <a:r>
              <a:rPr lang="en-GB" dirty="0"/>
              <a:t>If more doctors list a hospital first than jobs available, keep the most preferred doctors.</a:t>
            </a:r>
          </a:p>
          <a:p>
            <a:pPr lvl="1"/>
            <a:r>
              <a:rPr lang="en-GB" dirty="0"/>
              <a:t>Step N: For any currently unassigned, assign as many doctors their Nth Choice as possible</a:t>
            </a:r>
          </a:p>
          <a:p>
            <a:pPr lvl="2"/>
            <a:r>
              <a:rPr lang="en-GB" dirty="0"/>
              <a:t>If more doctors list a hospital Nth than jobs available, keep the most preferred doctors</a:t>
            </a:r>
          </a:p>
          <a:p>
            <a:pPr lvl="1"/>
            <a:r>
              <a:rPr lang="en-GB" dirty="0"/>
              <a:t>Terminate once all doctors are assigned</a:t>
            </a:r>
          </a:p>
          <a:p>
            <a:r>
              <a:rPr lang="en-GB" dirty="0"/>
              <a:t>Deferred Acceptance: 							     </a:t>
            </a:r>
            <a:r>
              <a:rPr lang="en-GB" dirty="0">
                <a:hlinkClick r:id="rId4" action="ppaction://hlinksldjump"/>
              </a:rPr>
              <a:t>EXAMPLE</a:t>
            </a:r>
            <a:endParaRPr lang="en-GB" dirty="0"/>
          </a:p>
          <a:p>
            <a:pPr lvl="1"/>
            <a:r>
              <a:rPr lang="en-GB" dirty="0"/>
              <a:t>Step 1:  Assign as many doctors their first choice hospital as possible. </a:t>
            </a:r>
          </a:p>
          <a:p>
            <a:pPr lvl="2"/>
            <a:r>
              <a:rPr lang="en-GB" dirty="0"/>
              <a:t>If more doctors list a hospital first than jobs available, keep the most preferred doctors</a:t>
            </a:r>
          </a:p>
          <a:p>
            <a:pPr lvl="1"/>
            <a:r>
              <a:rPr lang="en-GB" dirty="0"/>
              <a:t>Step 2: For any currently unassigned, assign as many doctors their second choice hospital as possible. </a:t>
            </a:r>
          </a:p>
          <a:p>
            <a:pPr lvl="2"/>
            <a:r>
              <a:rPr lang="en-GB" dirty="0"/>
              <a:t>The hospital keeps their favourite doctors out of all currently assigned (old and new), the rest return to being unassigned</a:t>
            </a:r>
          </a:p>
          <a:p>
            <a:pPr lvl="1"/>
            <a:r>
              <a:rPr lang="en-GB" dirty="0"/>
              <a:t>Step N: For any currently unassigned, assign as many doctors their Nth Choice as possible</a:t>
            </a:r>
          </a:p>
          <a:p>
            <a:pPr lvl="2"/>
            <a:r>
              <a:rPr lang="en-GB" dirty="0"/>
              <a:t>The hospital keeps their favourite doctors out of all currently assigned (old and new), the rest return to being unassigned</a:t>
            </a:r>
          </a:p>
          <a:p>
            <a:pPr lvl="1"/>
            <a:r>
              <a:rPr lang="en-GB" dirty="0"/>
              <a:t>Terminate once all doctors are assigned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568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6221-4767-48D5-3B98-8F372E66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School Choice:</a:t>
            </a:r>
            <a:br>
              <a:rPr lang="en-GB" dirty="0"/>
            </a:br>
            <a:r>
              <a:rPr lang="en-GB" dirty="0"/>
              <a:t>	The benefits of centralisation 		 </a:t>
            </a:r>
            <a:r>
              <a:rPr lang="en-GB" sz="2000" dirty="0">
                <a:hlinkClick r:id="rId2" action="ppaction://hlinksldjump"/>
              </a:rPr>
              <a:t>Return</a:t>
            </a:r>
            <a:br>
              <a:rPr lang="en-GB" dirty="0"/>
            </a:br>
            <a:r>
              <a:rPr lang="en-GB" sz="1200" dirty="0"/>
              <a:t>From </a:t>
            </a:r>
            <a:r>
              <a:rPr lang="en-GB" sz="1200" dirty="0" err="1"/>
              <a:t>Abdulkadiroglu</a:t>
            </a:r>
            <a:r>
              <a:rPr lang="en-GB" sz="1200" dirty="0"/>
              <a:t>, Agarwal, and Pathak (2017)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23029-24EB-F1BA-31FF-6EA9EE6E4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New York Public High Schools went from decentralised to centralised assignment in 2003</a:t>
            </a:r>
          </a:p>
          <a:p>
            <a:pPr lvl="1"/>
            <a:r>
              <a:rPr lang="en-GB" dirty="0"/>
              <a:t>Students used to receive many offers, or none. </a:t>
            </a:r>
          </a:p>
        </p:txBody>
      </p:sp>
      <p:pic>
        <p:nvPicPr>
          <p:cNvPr id="4" name="Content Placeholder 4" descr="A graph of a distance&#10;&#10;AI-generated content may be incorrect.">
            <a:extLst>
              <a:ext uri="{FF2B5EF4-FFF2-40B4-BE49-F238E27FC236}">
                <a16:creationId xmlns:a16="http://schemas.microsoft.com/office/drawing/2014/main" id="{A9C7CC46-3B35-FDEB-3FC4-8E62FED9F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775630"/>
            <a:ext cx="5467919" cy="3277851"/>
          </a:xfrm>
          <a:prstGeom prst="rect">
            <a:avLst/>
          </a:prstGeom>
        </p:spPr>
      </p:pic>
      <p:pic>
        <p:nvPicPr>
          <p:cNvPr id="5" name="Picture 4" descr="A graph of a graph with red lines and a black background&#10;&#10;AI-generated content may be incorrect.">
            <a:extLst>
              <a:ext uri="{FF2B5EF4-FFF2-40B4-BE49-F238E27FC236}">
                <a16:creationId xmlns:a16="http://schemas.microsoft.com/office/drawing/2014/main" id="{2F0561F9-D23D-5B57-8F50-9D654B877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888" y="2775630"/>
            <a:ext cx="5002219" cy="3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0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796A-10F8-8371-73F7-402AA9DD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School Choice:</a:t>
            </a:r>
            <a:br>
              <a:rPr lang="en-GB" dirty="0"/>
            </a:br>
            <a:r>
              <a:rPr lang="en-GB" dirty="0"/>
              <a:t>	Choice of Mechanism 				 </a:t>
            </a:r>
            <a:r>
              <a:rPr lang="en-GB" sz="2000" dirty="0">
                <a:hlinkClick r:id="rId2" action="ppaction://hlinksldjump"/>
              </a:rPr>
              <a:t>Return</a:t>
            </a:r>
            <a:br>
              <a:rPr lang="en-GB" dirty="0"/>
            </a:br>
            <a:r>
              <a:rPr lang="en-GB" sz="1200" dirty="0"/>
              <a:t>From Agarwal and </a:t>
            </a:r>
            <a:r>
              <a:rPr lang="en-GB" sz="1200" dirty="0" err="1"/>
              <a:t>Somaini</a:t>
            </a:r>
            <a:r>
              <a:rPr lang="en-GB" sz="1200" dirty="0"/>
              <a:t> (2020)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EB5B7-1238-4AB1-BC1B-8359987D2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Many school districts use mechanisms that require </a:t>
            </a:r>
            <a:r>
              <a:rPr lang="en-GB" dirty="0" err="1"/>
              <a:t>strategising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If you list a competitive school in your top choice, you may miss out on your second choice</a:t>
            </a:r>
          </a:p>
          <a:p>
            <a:r>
              <a:rPr lang="en-GB" dirty="0"/>
              <a:t>This has been found to be harmful</a:t>
            </a:r>
          </a:p>
          <a:p>
            <a:pPr lvl="1"/>
            <a:r>
              <a:rPr lang="en-GB" dirty="0"/>
              <a:t>It harms students who “incorrectly” </a:t>
            </a:r>
            <a:r>
              <a:rPr lang="en-GB" dirty="0" err="1"/>
              <a:t>strategise</a:t>
            </a:r>
            <a:r>
              <a:rPr lang="en-GB" dirty="0"/>
              <a:t>, typically low SES students</a:t>
            </a:r>
          </a:p>
          <a:p>
            <a:pPr lvl="1"/>
            <a:r>
              <a:rPr lang="en-GB" dirty="0"/>
              <a:t>It also harms students who do not know exactly how competitive a school is</a:t>
            </a:r>
          </a:p>
          <a:p>
            <a:r>
              <a:rPr lang="en-GB" dirty="0"/>
              <a:t>However, it can have benefits, depending on the circumstances:</a:t>
            </a:r>
          </a:p>
          <a:p>
            <a:pPr lvl="1"/>
            <a:r>
              <a:rPr lang="en-GB" dirty="0"/>
              <a:t>If preferences for schools are not strongly correlated</a:t>
            </a:r>
          </a:p>
          <a:p>
            <a:pPr lvl="1"/>
            <a:r>
              <a:rPr lang="en-GB" dirty="0"/>
              <a:t>If schools are not so competitive</a:t>
            </a:r>
          </a:p>
        </p:txBody>
      </p:sp>
    </p:spTree>
    <p:extLst>
      <p:ext uri="{BB962C8B-B14F-4D97-AF65-F5344CB8AC3E}">
        <p14:creationId xmlns:p14="http://schemas.microsoft.com/office/powerpoint/2010/main" val="1538068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5050-57A1-9539-688A-A50127B3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Cadet Matching:</a:t>
            </a:r>
            <a:br>
              <a:rPr lang="en-GB" dirty="0"/>
            </a:br>
            <a:r>
              <a:rPr lang="en-GB" dirty="0"/>
              <a:t>	The Problem 						   </a:t>
            </a:r>
            <a:r>
              <a:rPr lang="en-GB" sz="2000" dirty="0">
                <a:hlinkClick r:id="rId2" action="ppaction://hlinksldjump"/>
              </a:rPr>
              <a:t>RETURN</a:t>
            </a:r>
            <a:br>
              <a:rPr lang="en-GB" dirty="0"/>
            </a:br>
            <a:r>
              <a:rPr lang="en-GB" sz="1200" dirty="0"/>
              <a:t>From Sonmez and Switzer (2013)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F92DF-9D02-AEB1-150B-0C4B5F5AB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The US army allocates newly qualified cadets to their first posting</a:t>
            </a:r>
          </a:p>
          <a:p>
            <a:pPr lvl="1"/>
            <a:r>
              <a:rPr lang="en-US" dirty="0"/>
              <a:t>Barracks want the best Cadets, based on a written + physical exam score</a:t>
            </a:r>
          </a:p>
          <a:p>
            <a:pPr lvl="1"/>
            <a:r>
              <a:rPr lang="en-US" dirty="0"/>
              <a:t>Cadets are matched to a barracks, a </a:t>
            </a:r>
            <a:r>
              <a:rPr lang="en-US" dirty="0" err="1"/>
              <a:t>specialisation</a:t>
            </a:r>
            <a:r>
              <a:rPr lang="en-US" dirty="0"/>
              <a:t>, and a length of term (3 or 5 years)</a:t>
            </a:r>
          </a:p>
          <a:p>
            <a:r>
              <a:rPr lang="en-US" dirty="0"/>
              <a:t>Allocation is (now) based on the same algorithm used for doctors 		</a:t>
            </a:r>
            <a:r>
              <a:rPr lang="en-US" sz="1600" dirty="0">
                <a:hlinkClick r:id="rId3" action="ppaction://hlinksldjump"/>
              </a:rPr>
              <a:t>PREVIOUSLY</a:t>
            </a:r>
            <a:endParaRPr lang="en-US" sz="1600" dirty="0"/>
          </a:p>
          <a:p>
            <a:pPr lvl="1"/>
            <a:r>
              <a:rPr lang="en-US" dirty="0"/>
              <a:t>Cadets get a score boost for a particular post if apply for 5 year term</a:t>
            </a:r>
          </a:p>
          <a:p>
            <a:r>
              <a:rPr lang="en-US" dirty="0"/>
              <a:t>This score boost has been very effective:</a:t>
            </a:r>
          </a:p>
          <a:p>
            <a:pPr lvl="1"/>
            <a:r>
              <a:rPr lang="en-US" dirty="0"/>
              <a:t>This score boost has been found to increase enrolment terms</a:t>
            </a:r>
          </a:p>
          <a:p>
            <a:pPr lvl="1"/>
            <a:r>
              <a:rPr lang="en-US" dirty="0"/>
              <a:t>And also boost moral!</a:t>
            </a:r>
          </a:p>
          <a:p>
            <a:pPr lvl="2"/>
            <a:r>
              <a:rPr lang="en-US" dirty="0"/>
              <a:t>Cadets with a strong preference for a particular posting use 5 year term as a </a:t>
            </a:r>
            <a:r>
              <a:rPr lang="en-US" b="1" dirty="0"/>
              <a:t>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94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AAC0-1FBD-B9BF-1010-8961E29F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Cadet Matching</a:t>
            </a:r>
            <a:br>
              <a:rPr lang="en-US" dirty="0"/>
            </a:br>
            <a:r>
              <a:rPr lang="en-US" dirty="0"/>
              <a:t>	The Old Algorithm 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B11DA-AFCB-87DD-2B4D-820131562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previously used an extremely complicated algorithm</a:t>
            </a:r>
          </a:p>
          <a:p>
            <a:pPr lvl="1"/>
            <a:r>
              <a:rPr lang="en-US" dirty="0"/>
              <a:t>(though the score boost was still in place and did seem to boost enrolment still)</a:t>
            </a:r>
          </a:p>
          <a:p>
            <a:r>
              <a:rPr lang="en-US" dirty="0"/>
              <a:t>Cadets reported discontent with this algorithm</a:t>
            </a:r>
          </a:p>
          <a:p>
            <a:pPr lvl="1"/>
            <a:r>
              <a:rPr lang="en-US" dirty="0"/>
              <a:t>It was unclear how they would place, and how effort lead to improved outcomes </a:t>
            </a:r>
          </a:p>
          <a:p>
            <a:pPr lvl="1"/>
            <a:r>
              <a:rPr lang="en-US" dirty="0"/>
              <a:t>They also felt </a:t>
            </a:r>
            <a:r>
              <a:rPr lang="en-US" i="1" dirty="0"/>
              <a:t>justified envy</a:t>
            </a:r>
            <a:r>
              <a:rPr lang="en-US" dirty="0"/>
              <a:t>: lower scoring candidates getting the positions they wanted</a:t>
            </a:r>
          </a:p>
          <a:p>
            <a:r>
              <a:rPr lang="en-US" dirty="0"/>
              <a:t>They switched to the same algorithm used to allocate doctors</a:t>
            </a:r>
          </a:p>
          <a:p>
            <a:pPr lvl="1"/>
            <a:r>
              <a:rPr lang="en-US" dirty="0"/>
              <a:t>It </a:t>
            </a:r>
            <a:r>
              <a:rPr lang="en-US" dirty="0" err="1"/>
              <a:t>incentivises</a:t>
            </a:r>
            <a:r>
              <a:rPr lang="en-US" dirty="0"/>
              <a:t> truth telling (transparency)</a:t>
            </a:r>
          </a:p>
          <a:p>
            <a:pPr lvl="1"/>
            <a:r>
              <a:rPr lang="en-US" dirty="0"/>
              <a:t>And it turns out it prevents justified envy</a:t>
            </a:r>
          </a:p>
        </p:txBody>
      </p:sp>
    </p:spTree>
    <p:extLst>
      <p:ext uri="{BB962C8B-B14F-4D97-AF65-F5344CB8AC3E}">
        <p14:creationId xmlns:p14="http://schemas.microsoft.com/office/powerpoint/2010/main" val="414825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79FD-04EF-F10E-4568-A7DE98F6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Allocation:</a:t>
            </a:r>
            <a:br>
              <a:rPr lang="en-US" dirty="0"/>
            </a:br>
            <a:r>
              <a:rPr lang="en-US" dirty="0"/>
              <a:t>	Other concerns 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A4CE-6628-9755-797E-75EFF1BBB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Distribution of Teachers</a:t>
            </a:r>
          </a:p>
          <a:p>
            <a:pPr lvl="1"/>
            <a:r>
              <a:rPr lang="en-US" dirty="0"/>
              <a:t>A very active area of research, e.g. diversity requirements</a:t>
            </a:r>
          </a:p>
          <a:p>
            <a:pPr lvl="1"/>
            <a:r>
              <a:rPr lang="en-US" dirty="0"/>
              <a:t>Allow swaps only if they improve diversity [CDTTU, (2025)]</a:t>
            </a:r>
          </a:p>
          <a:p>
            <a:r>
              <a:rPr lang="en-US" dirty="0"/>
              <a:t>Value added concerns</a:t>
            </a:r>
          </a:p>
          <a:p>
            <a:pPr lvl="1"/>
            <a:endParaRPr lang="en-US" dirty="0"/>
          </a:p>
          <a:p>
            <a:r>
              <a:rPr lang="en-US" dirty="0"/>
              <a:t>Retention / private schools</a:t>
            </a:r>
          </a:p>
        </p:txBody>
      </p:sp>
    </p:spTree>
    <p:extLst>
      <p:ext uri="{BB962C8B-B14F-4D97-AF65-F5344CB8AC3E}">
        <p14:creationId xmlns:p14="http://schemas.microsoft.com/office/powerpoint/2010/main" val="1787902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4C9B-649B-066F-9462-A05604E47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5D4B-A446-BE3A-C9B3-BA451994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Teacher Allocation:</a:t>
            </a:r>
            <a:br>
              <a:rPr lang="en-US" dirty="0"/>
            </a:br>
            <a:r>
              <a:rPr lang="en-US" dirty="0"/>
              <a:t>	Top Trading Cycles				</a:t>
            </a:r>
            <a:r>
              <a:rPr lang="en-US" sz="1800" dirty="0">
                <a:hlinkClick r:id="rId2" action="ppaction://hlinksldjump"/>
              </a:rPr>
              <a:t>Return</a:t>
            </a:r>
            <a:br>
              <a:rPr lang="en-US" sz="1800" dirty="0"/>
            </a:br>
            <a:r>
              <a:rPr lang="en-US" sz="1200" dirty="0"/>
              <a:t>From Shapley and Scarf (1974)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9B08A-D34D-BE74-9005-33629565E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Top Trading Cycles Algorithm  						      </a:t>
            </a:r>
            <a:r>
              <a:rPr lang="en-US" dirty="0">
                <a:hlinkClick r:id="rId3" action="ppaction://hlinksldjump"/>
              </a:rPr>
              <a:t>EXAMPLE</a:t>
            </a:r>
            <a:endParaRPr lang="en-US" dirty="0"/>
          </a:p>
          <a:p>
            <a:pPr lvl="1"/>
            <a:r>
              <a:rPr lang="en-US" dirty="0"/>
              <a:t>Also, used by Hermit Crabs for thousands of years: </a:t>
            </a:r>
            <a:r>
              <a:rPr lang="en-US" dirty="0">
                <a:hlinkClick r:id="rId4"/>
              </a:rPr>
              <a:t>https://www.youtube.com/watch?v=f1dnocPQXDQ</a:t>
            </a:r>
            <a:r>
              <a:rPr lang="en-US" dirty="0"/>
              <a:t> </a:t>
            </a:r>
          </a:p>
          <a:p>
            <a:r>
              <a:rPr lang="en-US" dirty="0"/>
              <a:t>Every Teacher points at their favorite School – </a:t>
            </a:r>
            <a:r>
              <a:rPr lang="en-US" i="1" dirty="0"/>
              <a:t>this can be their current school</a:t>
            </a:r>
          </a:p>
          <a:p>
            <a:pPr lvl="1"/>
            <a:r>
              <a:rPr lang="en-US" dirty="0"/>
              <a:t>Schools also “point” (metaphorically) at their assigned teacher</a:t>
            </a:r>
          </a:p>
          <a:p>
            <a:r>
              <a:rPr lang="en-US" dirty="0"/>
              <a:t>Find a chain:</a:t>
            </a:r>
          </a:p>
          <a:p>
            <a:pPr lvl="1"/>
            <a:r>
              <a:rPr lang="en-US" u="sng" dirty="0"/>
              <a:t>Theorem</a:t>
            </a:r>
            <a:r>
              <a:rPr lang="en-US" dirty="0"/>
              <a:t>: there will always be at least one chain – e.g. all the teachers pointing at their own school</a:t>
            </a:r>
          </a:p>
          <a:p>
            <a:pPr lvl="1"/>
            <a:r>
              <a:rPr lang="en-US" dirty="0"/>
              <a:t>Finding chains is a linear algebra problem: With N teachers, this involves at most N</a:t>
            </a:r>
            <a:r>
              <a:rPr lang="en-US" baseline="30000" dirty="0"/>
              <a:t>2</a:t>
            </a:r>
            <a:r>
              <a:rPr lang="en-US" dirty="0"/>
              <a:t> calculations</a:t>
            </a:r>
          </a:p>
          <a:p>
            <a:r>
              <a:rPr lang="en-US" dirty="0"/>
              <a:t>Execute a chain:</a:t>
            </a:r>
          </a:p>
          <a:p>
            <a:pPr lvl="1"/>
            <a:r>
              <a:rPr lang="en-US" dirty="0"/>
              <a:t>The teachers all get the school they are pointing at, and are removed from the problem [MATCHED]</a:t>
            </a:r>
          </a:p>
          <a:p>
            <a:pPr lvl="1"/>
            <a:r>
              <a:rPr lang="en-US" u="sng" dirty="0"/>
              <a:t>Theorem:</a:t>
            </a:r>
            <a:r>
              <a:rPr lang="en-US" dirty="0"/>
              <a:t> there may be multiple chains, but it doesn’t matter* which you choose! (the chain will be there next round)</a:t>
            </a:r>
          </a:p>
          <a:p>
            <a:r>
              <a:rPr lang="en-US" dirty="0"/>
              <a:t>Repeat until every teacher is MATCHED. This can be shown to take around N log(N) calculations (i.e. &lt; 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algorithm can also be easily adapted to incorporate new teachers, and vacancies</a:t>
            </a:r>
          </a:p>
          <a:p>
            <a:pPr lvl="1"/>
            <a:r>
              <a:rPr lang="en-US" dirty="0"/>
              <a:t>It can also incorporate constraints [e.g. teacher qualifications], teacher scores, and other school preferences</a:t>
            </a:r>
          </a:p>
        </p:txBody>
      </p:sp>
    </p:spTree>
    <p:extLst>
      <p:ext uri="{BB962C8B-B14F-4D97-AF65-F5344CB8AC3E}">
        <p14:creationId xmlns:p14="http://schemas.microsoft.com/office/powerpoint/2010/main" val="3394451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4A2F-0892-1754-BA09-837267C0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23DE2862-2370-CE15-A41F-C184FCF21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084078AA-0869-575E-489F-B0016B9E2C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48D66B1C-C393-D177-4B9A-93ECA4ED0E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57F3DA8D-957D-E539-F4D8-5DD711ACEE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D5375AAB-7130-4B81-B3BC-284DE21DB8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C23C218E-BDAD-961B-C643-9435FA5002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C941F8D4-7E88-FBC3-392F-C04E6243AF0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6A25B452-573D-1BB7-1556-322F13FE193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4352E7-CDA7-1CC6-1B3D-3E7C43D1308E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89DC7-9780-9B4E-4576-970DEFB4FB06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4AB647-9CB6-3869-BBA0-0A7AB04316F3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6D4E8-CE6C-57C6-6274-086F207DB756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6A4661-5014-C22D-CA06-9AF405FB781E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C76CBB-BDE9-3DC7-1946-A3BA017ED3BF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7F2AF7-B0B0-4676-EC40-924052ED9C1B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1E94F3-D81D-5351-25B6-699263116C0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C39F1B-F9B7-896E-7B66-686B78D2E4DD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315628-1ECD-87FD-8228-9BF2DD64C016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32C9E0-986F-DE5E-4578-94C42BFAE3BF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41890-04F6-793E-5C7D-88CB66CB901E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55AB9E-7C5E-884E-ACF4-516A6FCCDC18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540382-C936-ABA3-63C6-FE94B149C1D6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969656-C435-41C5-840B-79A26FBC8F57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F3CBF6-3906-E581-CC21-D7D4A01C05D9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</p:spTree>
    <p:extLst>
      <p:ext uri="{BB962C8B-B14F-4D97-AF65-F5344CB8AC3E}">
        <p14:creationId xmlns:p14="http://schemas.microsoft.com/office/powerpoint/2010/main" val="1953392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065F-9939-D855-7EDE-56E15A00F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5EDD-EF73-56C4-98C3-B7785661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772ADB05-4047-1D4C-C1BF-1A6C1A28D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A23DEE54-4768-FB66-3244-03B89AB238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B3AC28AA-5D17-D374-D002-A2BE3ED703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3E9D0154-76E0-6755-38D7-8AAB99C7D5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7917A5F7-4AC8-6290-5F15-B08FB18782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3405E832-DF21-4BC6-0F01-A26A94A533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5785E0D4-FB2F-8A60-0812-101DDD87AF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B8CE1A8F-991D-F648-2C74-34B6A417649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B0B565A-1749-FDA4-32A1-F0B38F73456A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A83AF-832B-59C6-F0B4-471B1CE58C45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382647-3304-343C-F6CE-D8B819AE3DC3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DDF216-59DC-FED6-1E80-66CC4BB3C0DE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462AC-3B11-60A5-A593-62CCB68E69D1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103DB-DD07-9714-32B5-2382A957A887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9486AD-29B2-9EE0-BFB4-31E6E20C8BFD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40CCAF-4104-558D-156D-D14108F61FFA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83B49E-10EF-EE51-F441-0E7DA9BECA9B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0358A-5A49-0192-658F-F4207950DD0C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467A2D-ED00-9966-2970-391EF62CDA01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C0C1B5-044A-F98A-BC9D-B7D1093905B7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6F7280-FB07-AA47-F551-0E32A11900FE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925F85-E7BB-5E73-F4EF-61C7BCE7DB11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24EF62-EC05-B984-C098-15E6C36275D7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61F196-8713-A20E-98AE-1820C1D48414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5282B1-0F89-9020-0C41-83895508813F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072BC2-83C5-8B03-EC8D-E51B688758B8}"/>
              </a:ext>
            </a:extLst>
          </p:cNvPr>
          <p:cNvCxnSpPr>
            <a:cxnSpLocks/>
          </p:cNvCxnSpPr>
          <p:nvPr/>
        </p:nvCxnSpPr>
        <p:spPr>
          <a:xfrm flipV="1">
            <a:off x="3783416" y="2991688"/>
            <a:ext cx="4507968" cy="649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8EB7C4-E2FC-1A9E-E774-B3136DADEA03}"/>
              </a:ext>
            </a:extLst>
          </p:cNvPr>
          <p:cNvCxnSpPr>
            <a:cxnSpLocks/>
          </p:cNvCxnSpPr>
          <p:nvPr/>
        </p:nvCxnSpPr>
        <p:spPr>
          <a:xfrm flipV="1">
            <a:off x="3783416" y="3640803"/>
            <a:ext cx="4625169" cy="10834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8DFAFE-59E8-F88A-52D3-36D4F999168E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25169" cy="934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864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8CEB-B5C8-C454-377D-8344C17B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C049-1E76-18A5-6A8A-2C7B7F63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18EC093C-943F-2A67-66EA-E56B09AD7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4AA0FF26-5BBB-7632-FC14-5A772461F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51A07DB3-9EED-B609-110B-3B6EE6FDA8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CD407112-5C9E-9C7C-ADC2-FB3FB1C472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03691EDF-504A-760A-FA4F-5B983B990F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97279AB5-C3DB-CBB7-1D11-8E92CFBC1E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2E62C207-6F45-C72B-70AF-93E8CDA52B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0BBEE26E-8B5C-CBF5-D3D0-B643460F09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6096529-3F99-BC40-6200-68ED54A93C23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82EFBD-EFA5-426D-4FF6-1620E6529AE9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35A95F-AAFE-35D9-7280-6A7A3F83EDCB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B0F436-6814-3BB7-B7BD-91027CEC94F7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19DF8D-6E74-F49B-9583-67D6060757FC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FCDCA2-594D-F497-114B-69134BE5DD1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5925C-ECE7-505F-A36A-D7C58D1F3F61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895C2-6311-7994-2F09-3DD50E4E5C71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BF4A1B-05DC-556D-A57D-1815AC076530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D0D45B-871D-F554-104C-5376F8BBF2A1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1205C6-893A-4BC0-4EF5-45F311579F78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6FF384-0B62-BAA3-C3F7-8DFE4468E07A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F784D3-B695-3610-CE0C-3D9312E70F6B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A0C5A2-15A6-37C9-7F4D-287E921C6BAC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C10067-F49D-C62D-B774-0F5DD8AAD79C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0FA7C9-61EF-167D-26CE-9B2BE2C1539D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52B001F-F65E-492C-9532-7BE731F436CD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0ABE92-4DB9-9DF7-B856-D8BB93210772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25169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372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5F5F-B0C3-8295-9EE6-CF6C33B3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C1CD-2ACE-318B-84DD-0ABDA8CD5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43B495E1-0EF3-CE8E-B88E-91C1AC0D6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D52191B3-D05F-8107-198B-2DD9D30543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6EB46E66-3B3B-C83C-1911-7691096DB0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02EA3925-2ADB-E09C-11EE-923DF447BD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5A0F95AF-579E-1A99-7915-61CB057A41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33539865-24AA-5702-99F3-7DE0F69D5F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69E0E363-D7EE-FFA5-6981-A40A95F90D2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BE9894D9-DE58-14BB-AB4A-B1079DDE69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6A96F68-B192-5F83-8043-0BFCD327FC98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A2827-2EB1-E071-495E-AFEC5CE51FC3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5FB95-68DC-1C04-D850-D8073AE6BF58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6F3B76-54F4-2616-F730-6ACDE70AC717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7D938-17D6-903D-5885-99CCC413443B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0D1AD2-75FC-E747-5192-B68BC658B033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1B175F-9A34-75F4-E527-53BA347C22D1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5CEF35-E444-F111-6748-DC69CA8D4C66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066C0C-AECD-EABB-650C-15A2F6C5AAE1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EC728E-1775-72B8-DEE3-462188ACCE27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745BDC-D365-6D4D-11AE-1A83C51721A9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C0C3EB-6D56-D614-6932-2EBDD5CA9966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FD7AAD-795C-D505-76E9-B7C6FB997E63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8CB0F2-F672-DD9A-2B2A-91F144D9ACF7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92AD58-A349-201C-93B4-5984C70A6755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31D81E-CC8E-75F3-1B5B-5A9F72B4C846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88BE59-8E12-959D-52C8-1E7EE05EAD56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FE4E2A-0ADF-0914-C391-84C2FE53406F}"/>
              </a:ext>
            </a:extLst>
          </p:cNvPr>
          <p:cNvCxnSpPr>
            <a:cxnSpLocks/>
          </p:cNvCxnSpPr>
          <p:nvPr/>
        </p:nvCxnSpPr>
        <p:spPr>
          <a:xfrm>
            <a:off x="3783416" y="4678536"/>
            <a:ext cx="433950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A06E10-08C2-A0EE-2365-3982320F783F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25169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26EA375-7550-CF50-B9D6-7E9F8F877A1F}"/>
              </a:ext>
            </a:extLst>
          </p:cNvPr>
          <p:cNvCxnSpPr>
            <a:cxnSpLocks/>
          </p:cNvCxnSpPr>
          <p:nvPr/>
        </p:nvCxnSpPr>
        <p:spPr>
          <a:xfrm>
            <a:off x="3783416" y="3640803"/>
            <a:ext cx="4625169" cy="961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073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16C9-78FB-CDA5-5BB3-1F6A1866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3958-2D69-624C-E4EA-8E20320A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6254CCCE-2FAA-6CCA-4F2C-289A6015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852F2F08-129D-2DB5-F464-10DED9018A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01D9E55F-F03B-A2AB-A968-C95380AD85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EDFC129A-0979-594E-408F-3FF97EEF68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1BBBCABD-9812-3337-A65F-803892CB9B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8FFDA9DD-EA41-45FA-4D22-70C4ED0532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1DE7D6A9-BB16-EE67-6F1B-B26D96B448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C3C53FF8-BD87-259A-3638-A3578B44FAB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171CCD-46E5-0C9A-F455-712DC45ADD02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990B9D-7C4C-52FF-8324-3ADB86D6729A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A5A7E6-CB79-63EB-0F4A-064565C6A7B7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15B1B4-CD45-B139-49E3-E64FE768A680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75EDD7-BCD1-09E9-5E7C-A62E7FAE887C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3DFD5C-ED7F-761F-0050-611585011ABA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D776EC-2D11-D3D5-AA4A-D1A1F23620BC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1FFB25-ED38-4F74-C5EA-1BCF36529F9A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772CCE-9F84-1F7D-7100-C29BE2BA031E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2814E5-BE4D-14B9-5CAB-8E771028D6FF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82772C-92BC-19EF-9D22-7B26ADFEE9DF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A15B71-3EAF-408D-DCC2-FEEB3DBDB407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258C37-50E6-449C-A606-5B9247CBC367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CB8DB6-73AC-C5E4-6FC6-62B541C78AC0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152B3F-DE43-4E02-7B08-E9CAB6F6E9F3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428EC-EA03-0585-2A4A-B58BCDB8ED29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B8675B-93F2-E74E-C230-35289DEF1325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8EAA3B-58D0-BA48-F598-A60C0F0FA11E}"/>
              </a:ext>
            </a:extLst>
          </p:cNvPr>
          <p:cNvCxnSpPr>
            <a:cxnSpLocks/>
          </p:cNvCxnSpPr>
          <p:nvPr/>
        </p:nvCxnSpPr>
        <p:spPr>
          <a:xfrm>
            <a:off x="3783416" y="3640803"/>
            <a:ext cx="4625169" cy="96167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94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3B0B4-6D54-0B77-BC2F-205449D6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7523-5901-6A32-97AB-DA8D870C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1E8E876D-E27C-19D5-7E9D-2141AD299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78404B10-C604-06B4-CCFE-9C7840FB7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1BD1EB38-A380-B757-8C67-1580CBB06D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E6BF86C0-1E99-1DF8-E3B4-77D52F0043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6E96F669-50EB-9DED-461F-09A4F09CAE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84B9F09F-C5BD-98B2-6547-6152B998EF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6E7D5384-5F60-4994-E651-FE3A6CCBFE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AAA232F5-7DDE-475C-97A5-D41D13E7DF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BA914A8-F01F-5E2F-56EC-9C7A06817036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F52260-9940-1DB0-086A-899A88451385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404913-4417-9F4E-5B12-86F9293237C5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F6ED9F-775D-B068-5212-1CE2DDA09124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620BB8-AE17-1F0B-1276-2E40056F258A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1D5C4C-5925-627A-07A9-B15126CDEE42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E5F1AB-B8BC-93F0-F44D-09B175DA1F7A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094E25-E811-9095-B6AF-95541CD7FBD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6D1ADF-6471-50BA-E74D-80D286C64AE7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641F23-12EF-6C8D-ACE8-21F8449C44CF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7E03AA-0E70-AC2A-5FF9-930D90F2D121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8970D8-AB23-6F71-6551-A02CC17DF636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18C771-3ADB-732E-6D10-8FB7871FA634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87A8F2-5F5A-99BF-8DBE-286394BD5183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7E1338-25AF-7D00-FE2B-3CCB92A54098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2EFD04-CA00-68D1-2545-C3225739190D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61065D7-5B67-CB60-1284-13E6678B361D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0A13C9F-9C75-7AA8-038C-AFA1F813E9BE}"/>
              </a:ext>
            </a:extLst>
          </p:cNvPr>
          <p:cNvCxnSpPr>
            <a:cxnSpLocks/>
          </p:cNvCxnSpPr>
          <p:nvPr/>
        </p:nvCxnSpPr>
        <p:spPr>
          <a:xfrm>
            <a:off x="3783416" y="3640803"/>
            <a:ext cx="4625169" cy="96167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E61EC8-9010-46DA-4B65-AEFEC5F1F61C}"/>
              </a:ext>
            </a:extLst>
          </p:cNvPr>
          <p:cNvCxnSpPr>
            <a:cxnSpLocks/>
          </p:cNvCxnSpPr>
          <p:nvPr/>
        </p:nvCxnSpPr>
        <p:spPr>
          <a:xfrm>
            <a:off x="3783416" y="4678536"/>
            <a:ext cx="4507968" cy="8383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4B3E96-2889-DEF3-2403-26069013AAE9}"/>
              </a:ext>
            </a:extLst>
          </p:cNvPr>
          <p:cNvCxnSpPr>
            <a:cxnSpLocks/>
          </p:cNvCxnSpPr>
          <p:nvPr/>
        </p:nvCxnSpPr>
        <p:spPr>
          <a:xfrm>
            <a:off x="3783416" y="5658795"/>
            <a:ext cx="4507968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938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11979-79DC-E5FC-6419-98CF2157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6D4B-41E7-32DA-5D4A-2D7D48E1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8AA703AB-081E-6B40-7E90-66A2482C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D211708A-4F84-E645-D708-056D29EE6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CEA4C742-7D4A-C49A-1D8E-9AE42746B8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B764280D-0345-47AA-99AE-093EB5A59A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166CD6B3-1D50-71C8-CB7B-90157D1EFF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76B5F5DC-1911-BDD5-782B-0155BB5B6A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8099A247-776C-2130-F975-77463578CC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1EB79F7B-B71F-AACE-7EC7-8AE86413B3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9BB2B1A-E345-5154-A13C-A7DCE7AC75AE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15AA55-8B53-AE0F-107D-7A5443A2C702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4AE486-782A-3615-132A-6EAD093471F9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C23C20-03BB-182A-2160-43E0FFCE48FF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3EF8D6-791E-8ED8-9122-CD2A55A8F2C5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C6EB6-9B83-4DDA-662E-69760A33506E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8FFB16-C0A5-F872-E5C1-6E80681E238D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B2E313-972B-9FB9-0C50-05DB1CC51E10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5918CD-D009-FB3F-DFD1-848829022309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46250D-CFD4-DE5E-5B94-3B8AF65C40E3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21BAD7-B59F-2E3E-CDA8-2E2465F2E761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14B20D-131C-6692-F1E1-33EA5655AB75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CC4AC-4E11-07E0-48BE-509B3397078A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91D48F-5359-2F06-B1DE-4EBD2C92889B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B5A3DB-3E75-D65E-F10D-9951F8DFF6BB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28F89A-8D96-0384-432F-8986B55C072F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8FCB11-4118-B9CD-DA99-A3626ECF76AA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B969AB-BF59-F539-27A9-C70589AE514E}"/>
              </a:ext>
            </a:extLst>
          </p:cNvPr>
          <p:cNvCxnSpPr>
            <a:cxnSpLocks/>
          </p:cNvCxnSpPr>
          <p:nvPr/>
        </p:nvCxnSpPr>
        <p:spPr>
          <a:xfrm>
            <a:off x="3783416" y="3640803"/>
            <a:ext cx="4625169" cy="96167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C8EDCB-965F-71DF-699A-3955ECB9CBFB}"/>
              </a:ext>
            </a:extLst>
          </p:cNvPr>
          <p:cNvCxnSpPr>
            <a:cxnSpLocks/>
          </p:cNvCxnSpPr>
          <p:nvPr/>
        </p:nvCxnSpPr>
        <p:spPr>
          <a:xfrm>
            <a:off x="3783416" y="4678536"/>
            <a:ext cx="4507968" cy="83834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435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FB99-9205-8967-FB15-5A75E632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D591-3583-71CF-E2F9-4C4B0FD8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C9FAE58E-E2F5-0D42-5CA1-A46271A2B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33F83983-BB26-2ED4-413C-3316B46941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A9F65EA8-E072-83E0-1260-2407C12E5E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C2B58AE5-EB61-1BDE-2AAB-34EA1CB492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7E3470A6-A060-315E-4B5E-6D65121C34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9C5FB2F7-2F0B-556B-E212-E0F2CB48BD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68F42F28-B431-AEBB-B3C5-DB54337153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777A3AA2-7147-03D4-1F00-3A042820CC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129C124-6F2B-FFC4-0F9D-D3E2985CC3DB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38F90-C8BA-D796-05E5-1DAB3A09351E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E5E10-51AC-F206-0F75-2A1170DC1DDA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5E5C44-8B84-7563-3381-A3A406FA07F2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76F849-7CA9-D4EB-AE70-63501186948C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3AED9D-4390-B2FF-F511-6BD7908444FA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4B1761-216F-CEA5-E0BC-179F35652A68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28312-363A-E62E-C3C8-BE40B0A4AFBA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50F5A3-1643-F597-8FE6-5F40BD4B38FF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F1604F-21F1-5944-7B07-9504FEA8EDC8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45B3B9-1393-EC54-EA9C-AC4359A6AAC3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32A30A-685F-8044-DA57-5B0888843263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DC6916-CDBD-3E2B-93CD-9BE61BE4FFA0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8E4440-6B70-049F-51BD-1B010A9BEE12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52FE6D-A616-D214-AAEB-CE990CDDBCDD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01C34B-F930-01C1-2B6D-C3F794F35EC3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AD6988-60F7-F7C3-1A49-69BA6D86545A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79777F-419A-2906-DB51-1EBA9589DC73}"/>
              </a:ext>
            </a:extLst>
          </p:cNvPr>
          <p:cNvCxnSpPr>
            <a:cxnSpLocks/>
          </p:cNvCxnSpPr>
          <p:nvPr/>
        </p:nvCxnSpPr>
        <p:spPr>
          <a:xfrm>
            <a:off x="3783416" y="3640803"/>
            <a:ext cx="4625169" cy="96167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C94C49-3B83-054B-DB1A-DC74FA36755A}"/>
              </a:ext>
            </a:extLst>
          </p:cNvPr>
          <p:cNvCxnSpPr>
            <a:cxnSpLocks/>
          </p:cNvCxnSpPr>
          <p:nvPr/>
        </p:nvCxnSpPr>
        <p:spPr>
          <a:xfrm>
            <a:off x="3783416" y="4678536"/>
            <a:ext cx="4507968" cy="83834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62997F-8FC7-15CC-E6BF-2B9029390712}"/>
              </a:ext>
            </a:extLst>
          </p:cNvPr>
          <p:cNvCxnSpPr>
            <a:cxnSpLocks/>
          </p:cNvCxnSpPr>
          <p:nvPr/>
        </p:nvCxnSpPr>
        <p:spPr>
          <a:xfrm flipV="1">
            <a:off x="3783416" y="2991688"/>
            <a:ext cx="4507968" cy="266710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597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28A3-FD98-1C88-1197-AA646E49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5911-D313-793D-C054-417CB233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Deferred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D1B8D102-E51B-6291-4069-BA0269569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4E581912-AF20-0779-7F92-AB9D6D135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0904C799-62D2-9DDC-56E5-1874358EAE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948A1485-4197-C993-127E-C859697A77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2298E46E-B9B0-A218-5419-0AD20DA8F3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E0B537EC-5031-1F11-883E-6E295E5A5B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758AD441-6244-167F-810C-504CB419B9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21192897-63AF-C19E-5041-5F23AEDCAD0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3DC3EE-83A8-7C86-2362-E8A0AB4D73AA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AF5F5-E3E3-06C3-8896-71B27C1110C0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28C767-CA44-F9D1-D983-554BDF6BBD6A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75CB5-4053-98F7-3879-5AA17C11184F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BA6EAF-D464-8498-5F53-4A445D5EB3D8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5EF0FE-A73B-E110-C444-5951BAB80EEF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D0FD65-1E2F-14D3-0C80-4083E0D214FF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DA114E-373E-1C14-8056-6A3792ED221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0AC84-E7FE-8536-66EB-75D83A3C8056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C50B62-AACB-B0C9-ABAE-7E60679D53B2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635D21-7084-D5A7-D69E-44C641255DE2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A6A19F-631B-06D7-12D3-EC65F56D338E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233FA6-2BA8-DFF9-5494-808586AF1AE4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D86B1A-6B7B-8367-E765-BB0CCF3C1B90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ADDC2B-35B5-1E33-66F1-34A8D2C629C2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C1C136-EB81-3C93-AD95-8895E5C4A132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3D53E00-BA32-169B-05F4-922E219D78C7}"/>
              </a:ext>
            </a:extLst>
          </p:cNvPr>
          <p:cNvCxnSpPr>
            <a:cxnSpLocks/>
          </p:cNvCxnSpPr>
          <p:nvPr/>
        </p:nvCxnSpPr>
        <p:spPr>
          <a:xfrm>
            <a:off x="3783416" y="2771775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DDDC78-5434-C08D-50F2-D3E327039DE7}"/>
              </a:ext>
            </a:extLst>
          </p:cNvPr>
          <p:cNvCxnSpPr>
            <a:cxnSpLocks/>
          </p:cNvCxnSpPr>
          <p:nvPr/>
        </p:nvCxnSpPr>
        <p:spPr>
          <a:xfrm>
            <a:off x="3783416" y="3640803"/>
            <a:ext cx="4625169" cy="96167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C8AA91-2728-7EB6-38FD-21C1D77B637A}"/>
              </a:ext>
            </a:extLst>
          </p:cNvPr>
          <p:cNvCxnSpPr>
            <a:cxnSpLocks/>
          </p:cNvCxnSpPr>
          <p:nvPr/>
        </p:nvCxnSpPr>
        <p:spPr>
          <a:xfrm>
            <a:off x="3783416" y="4678536"/>
            <a:ext cx="4507968" cy="83834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8949DE-06BD-8737-400B-0CFAEEAB6084}"/>
              </a:ext>
            </a:extLst>
          </p:cNvPr>
          <p:cNvSpPr txBox="1"/>
          <p:nvPr/>
        </p:nvSpPr>
        <p:spPr>
          <a:xfrm>
            <a:off x="4673935" y="5737863"/>
            <a:ext cx="283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ALGORITHM TERMINATES</a:t>
            </a:r>
          </a:p>
        </p:txBody>
      </p:sp>
    </p:spTree>
    <p:extLst>
      <p:ext uri="{BB962C8B-B14F-4D97-AF65-F5344CB8AC3E}">
        <p14:creationId xmlns:p14="http://schemas.microsoft.com/office/powerpoint/2010/main" val="1320810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60B3-AF87-B312-0DF1-87D785E0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7113-F0A6-B1AC-25A5-02A47058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DA5AD6DF-D9DA-11BE-99F1-AE6F05163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8E09302F-FCAD-1770-CBFC-5645168EA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EC68147E-38C0-97A9-C225-7EC34BDB3B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3EE759AA-6994-8A2A-8D4D-0E5BAEDF25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47995B41-5E1C-48ED-0BD4-68B83A99EE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FC00110F-CAE9-8BE7-48A3-9970D48558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24E4482E-9047-121F-761A-422E7340BE5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AD6D19E1-3918-ADFA-3C74-00342737FB1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F646597-461C-5706-6407-A351986796C3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36AB1-207B-11B5-6051-4A39CD0D0568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86BE4-B2B2-9801-C0F8-1C0ACBC5A65E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0EFCB-D83D-53A0-4A5A-A42D00D05795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5FB07-DEB4-48A0-8E5F-ADA031CBF005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57DE9F-EB77-3EF0-93DD-3693700DD6B1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970403-9A28-41AD-49EE-E5DE7AAB5216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55C7FC-64F4-DC69-714A-7FE9DCA37E45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D8AE43-AAFE-9619-0214-81D149E25C2C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CB2563-693B-3762-5FC8-E48F7D0383E7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F4B1FA-9CF4-B64B-FC0A-37ED0EF9C0DA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9744C9-256C-AD58-60DA-C2563B7D4237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C686DF-8FB9-9AE9-A38B-5A7D75A0C9E7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71A17B-A25F-6499-583A-9E1E22FF968C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9F72F-344E-7CD7-58D6-E8DB6BDBBB3F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207161-1126-D43E-34B3-ACC6FF70BFC3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</p:spTree>
    <p:extLst>
      <p:ext uri="{BB962C8B-B14F-4D97-AF65-F5344CB8AC3E}">
        <p14:creationId xmlns:p14="http://schemas.microsoft.com/office/powerpoint/2010/main" val="180338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CEBB-053E-F0D9-513A-1DA12370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6E42-76B3-C7E9-7A1A-3320BCFE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79B24EE8-82F4-6873-C1F9-55B2018BC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3EBB7A73-4A56-2AB9-F93F-405A707F8A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F3772938-4B78-71D6-5FF2-1CFBB9D22A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9A241E4C-F029-7A9C-7846-0577219B5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2BDE37EC-79D9-8466-F698-571644A5AB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EF982E08-7DC2-6362-82E6-B7CF37E0B1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1FBF2801-D9A3-7CB3-56F0-8B7D54368F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D319527E-14B4-3EAD-2B43-BF79283CACE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A775A46-430A-C2A7-E243-931A71B82BCE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C55F8-BB4F-DAB1-6865-632B57C43709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C76E15-D9DB-946F-6574-92E20D55A11A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5FC92C-6857-C6F6-9673-B426E3DE0EC2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1AE78F-3CD2-C276-0B7E-BA90BE4F9458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770332-3328-0633-A523-DA717F15AD75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A5E942-FF5D-B45C-734A-BF8F5A23F3B1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D71B38-C448-E788-E274-24704E09EA4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52D91D-E773-7E6D-C903-CF23B3AD340F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A30445-2BDC-C05C-2AEC-184FD8777BC8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0B7869-54BA-957C-FBB1-C6A350D6B7BF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F7A273-C131-DF7F-5539-D674CDA4848D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C53489-6C53-D6F4-045C-F694AF0CE90C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6059AC-3677-9726-539D-67F23C8CC9C9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0B4C3C-35EA-8FAF-3525-ED760C6091D3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E9376F-1B42-4ED3-3E0A-74CC51720B01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6FD0C3-2E59-3A9C-2FBA-B03C87361A76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32786" cy="93453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BA59CD-4863-F680-713D-D34A4338B2DA}"/>
              </a:ext>
            </a:extLst>
          </p:cNvPr>
          <p:cNvCxnSpPr>
            <a:cxnSpLocks/>
          </p:cNvCxnSpPr>
          <p:nvPr/>
        </p:nvCxnSpPr>
        <p:spPr>
          <a:xfrm flipV="1">
            <a:off x="3783416" y="3815297"/>
            <a:ext cx="4625169" cy="90895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EC03E9-CCA8-C169-899A-2AE611747D8F}"/>
              </a:ext>
            </a:extLst>
          </p:cNvPr>
          <p:cNvCxnSpPr>
            <a:cxnSpLocks/>
          </p:cNvCxnSpPr>
          <p:nvPr/>
        </p:nvCxnSpPr>
        <p:spPr>
          <a:xfrm flipV="1">
            <a:off x="3783416" y="2991688"/>
            <a:ext cx="4507968" cy="82360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E3FC7E-F307-E9C7-8296-368EC2B76BFF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784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C6A0-10FC-4A82-C4ED-66AB725D4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0254-5C8E-6613-4001-08AE099D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8ED79475-81D0-29A5-9FD8-B685A7F67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F1A69C8F-7E9F-2BD1-6104-087C240547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64F596BA-F88C-2F03-A65D-96DCF8622C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342A5E45-9F64-E529-7926-DAA1BB10CD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0C9A77CB-CE8F-2D1A-6B63-38307C8487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E2946DCF-F4DF-7D7F-E792-3AF85CAF43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D5D970A6-4F59-7974-50E6-AD52B2AD7C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84521475-B436-E562-9632-9847D2C4D6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921BEA-701C-C902-9AD9-DABF22F2507B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95547D-A44C-F4B6-BEAF-044314D02CFC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59874B-EF5E-36FC-4476-0E7068EC0547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E49869-BE5E-714D-5F11-5E7625F5C052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94C578-6975-9690-2AC0-B0BC97C68E3D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447590-9E2F-CF12-4E39-49510B87D1C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6D5D45-939F-4964-F334-32136BD75646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D855FD-4E5E-3BC5-0846-18091043B68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6587B3-BC61-4834-CCFE-7D0FDBA3A877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75FEFB-2558-49F3-8438-C41B5D3FE2CC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6732F4-1CB6-0F95-3A8D-C7F4AB8DC847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C3A291-B746-268F-2980-BE8A1C893E95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4D5239-D50F-E4F4-EF5D-D10DAE610FB0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4E57A7-15B5-72BC-7FD5-3D81A900277C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F81DB7-EBEC-9278-3E2E-40FC14CE8334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59E7D5-D33F-612C-058C-E838EAE9871D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AB04D1F-193E-9562-77E8-80F45079FC89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32786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D73B0D-DD06-6B0D-16CD-9E8C0CBD348C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966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E21F7-4975-B95D-9A82-9F9898E3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4BA0-D613-B147-59FA-644241C0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98E32479-D023-FE0D-1398-5C9CD8399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DFBC48E5-0B68-FCFB-483D-DB4F4EE4AA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8F77B376-9C5A-9931-1AC8-40503CBD72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EF33680D-D878-D065-48BA-827C99B829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23DE7F13-46CF-0989-AEEE-A1BFE05FD3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7F2D7D4B-94ED-1745-D402-810A678DD62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AB1F2E79-77EA-EC28-DE66-AE2FE4DA71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3894DB30-66AF-226F-F563-B59845FBC7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D374AD-2F83-60C2-EAAD-91A9C0EF53DB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55C4D7-EE63-38B4-10E5-EC679BD96A14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44A17-679A-3551-E926-2C5B8C299F54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B71655-036B-3D10-8B10-96DE7E25967F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73706A-9A57-F6E3-7C32-E55A5D0B709D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182BAB-28FE-7447-0357-33195A00C105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94478D-19F3-4C40-1085-EBD5B678E23D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82F3FD-F497-0A45-3AD1-FBC0ACDF76D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9EF1D2-146B-7113-AFD0-5E8710ADB9D1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3D6588-B99A-3A54-4780-0DDED5CB6F86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EDBE6F-9D8B-36A8-554B-CD299C51C272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314629-2212-ECBF-9ECD-92F063962DC9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B72279-A1C6-7972-EF9A-DCAF9B355862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A157A8-6369-EBF9-7AE2-9C2A9EF5995C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7EDE0C-1C22-3DAD-43CD-582BCF25BB21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4919AE-4092-AC12-DE8A-12ABA617B08D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CF8E19-DDE3-137C-31DE-888B4B0B0063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32786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167A45-3216-A0F9-D859-4D2226762F2E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453379-EF6A-2485-484C-6CAA016FA825}"/>
              </a:ext>
            </a:extLst>
          </p:cNvPr>
          <p:cNvCxnSpPr>
            <a:cxnSpLocks/>
          </p:cNvCxnSpPr>
          <p:nvPr/>
        </p:nvCxnSpPr>
        <p:spPr>
          <a:xfrm>
            <a:off x="3783416" y="3815297"/>
            <a:ext cx="462516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E02DC8-D7E7-5EFB-8F9A-23E4793E0BDE}"/>
              </a:ext>
            </a:extLst>
          </p:cNvPr>
          <p:cNvCxnSpPr>
            <a:cxnSpLocks/>
          </p:cNvCxnSpPr>
          <p:nvPr/>
        </p:nvCxnSpPr>
        <p:spPr>
          <a:xfrm>
            <a:off x="3783416" y="4724256"/>
            <a:ext cx="4660368" cy="92978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774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6C89-603D-22BC-D40C-6957C441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4409-2CD9-0D18-4BE3-74C25DC2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99123928-242B-E672-09EE-3AFEDA14B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47DAAF13-BB49-9353-4C8B-F7C92DD168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CA21DDEB-2550-D4F2-5D4E-D7612A44EB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D1666CD7-953C-4B52-E6F8-058C747EF7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8A6A95E3-F9BE-D697-059C-16BF179807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FB097F51-B7E7-8FCD-F9A5-BB1BF44832A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6577ED9F-CF5C-0745-DF36-C310FBDA6C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A375F9AB-4A8A-EDF0-65D4-043088C969D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2199F01-8C22-852D-BCA1-291FB88B1C2F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8F7C53-E3D6-2D9E-C12A-6119A4969D47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215C42-BF23-E394-CC2A-C2A872CB5DA8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E6D094-42DC-10E5-989D-7562AFC6E212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B3C20D-7F3F-7E78-B18A-82085CB48758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573CA-D0CC-F135-A921-F0BDA0C608EF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1BEA33-BA5F-1C0F-ECE6-14A78DFCAE91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820FBE-D278-EEFA-138C-079E7ABD073C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B3915-C721-8E75-DD13-BCBCA0996430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B15589-7CFC-A204-DA30-5C4C7EB7E792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FA7D71-C9B0-72E7-9DF1-B37017803EAD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2B4EB2-8EDE-249E-43AD-A2A1BEFC149F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94AC9C-6404-5807-FF87-3D43DE785D0B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EFB19C-9129-2143-159E-5C2A5C26CDE4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9A8753-C65E-6550-D2F2-284CAF25EC25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AAD905-C665-C320-75F7-767F83E300D8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AD5C34-F9BB-BA24-BB4A-F3938BB3EB6C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32786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695B66-A3F6-9795-EE22-BC9C4AF9D7CB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347614-AFF3-602B-F435-350307C354ED}"/>
              </a:ext>
            </a:extLst>
          </p:cNvPr>
          <p:cNvCxnSpPr>
            <a:cxnSpLocks/>
          </p:cNvCxnSpPr>
          <p:nvPr/>
        </p:nvCxnSpPr>
        <p:spPr>
          <a:xfrm>
            <a:off x="3783416" y="4724256"/>
            <a:ext cx="4660368" cy="92978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167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C56D-E041-CEC3-B1E8-1B2D3224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056F-D006-7B21-6FF7-E77F3857F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FA5A5356-FE81-521A-F105-3F32280BA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A14753D9-850D-079C-AFBB-065D203A35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03C843F4-6CEE-33C8-A9B7-6DBBD90508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E5055A38-AC07-4F9D-F5EE-56F003438B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D76FCF14-79D6-07A1-BB9F-E3956B6F21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4420099B-2E35-BEC2-9995-2AF51C259C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55C92857-CCED-0C32-4EEF-EA87FB857C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974C45E2-D342-D052-3254-7F12CEB6EE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24CE15-C3A3-E386-5211-89602221A289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8850A0-B3DA-3F0E-7C25-5250D8890C18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F6AFB5-5767-85BE-2DB7-08CE6BF3CFFF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0C5A13-8BC3-9504-76A5-B514790EA4F2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633686-EF2E-F40D-BCDB-F22114165EA7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DFED9B-0345-6E5B-D4C0-D42901638D0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2C1C26-2E65-D33A-6A9F-2BCDB1982F54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D196C3-7E03-268E-0BAB-0CFFCB0AD2B7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60C39A-1559-EDE6-DB82-110F120BEC4E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9ED855-C05A-F0AA-DB0D-238A6786CAD4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71BF97-94F0-C073-68A0-4FD64F5EDBA1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C70C1B-3DD4-C944-3D3C-5C7F7A1A0BD2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8AF559-79B8-3E50-ECDE-2D8BC90E5B39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7D6D36-6798-97CA-3E96-1D5A347438B9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AF15AB-0248-1CB8-4331-ABF164C314A6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EA603-894E-EB41-933D-28E4A80AD183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A594C42-59EA-E8C3-5407-5AC303E245A2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32786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9ACD30-4BC7-6801-84EE-4E0722A1A50D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09310B-B186-6ADA-6AC9-719CA48691C0}"/>
              </a:ext>
            </a:extLst>
          </p:cNvPr>
          <p:cNvCxnSpPr>
            <a:cxnSpLocks/>
          </p:cNvCxnSpPr>
          <p:nvPr/>
        </p:nvCxnSpPr>
        <p:spPr>
          <a:xfrm>
            <a:off x="3783416" y="4724256"/>
            <a:ext cx="4660368" cy="92978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648B8F-E14B-985F-974A-2E61AC46C770}"/>
              </a:ext>
            </a:extLst>
          </p:cNvPr>
          <p:cNvSpPr txBox="1"/>
          <p:nvPr/>
        </p:nvSpPr>
        <p:spPr>
          <a:xfrm>
            <a:off x="4673935" y="5737863"/>
            <a:ext cx="283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ALGORITHM TERMINATES</a:t>
            </a:r>
          </a:p>
        </p:txBody>
      </p:sp>
    </p:spTree>
    <p:extLst>
      <p:ext uri="{BB962C8B-B14F-4D97-AF65-F5344CB8AC3E}">
        <p14:creationId xmlns:p14="http://schemas.microsoft.com/office/powerpoint/2010/main" val="622508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DB5D-39D8-0E50-4A0C-0562043F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E22A-515E-FEDD-E734-673DE2892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70B16F78-4017-95AF-C2CC-64F2728EE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A39C86C4-BDB9-C00F-B72C-0F9C0EA77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6BD6D964-B8BD-5090-D1B2-499E9FBB6F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7F8CCB65-BDD8-A172-F5C5-96DB4D6822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0A7C3026-5D83-147C-093E-C931A43CB4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0FD57396-6E9D-7A78-EE35-B55AE955F4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50C60EDE-96FE-2665-B2EA-67373C6DE9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F8AB0268-7EDD-5ECC-9F85-C653B2C4AA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DCC07C-D77B-683A-3C75-12E936E4D7CE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47521-0106-2CFE-9731-9FA164DBA99F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CD11FB-F9BC-9BAD-602F-61BD142922A6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D976AF-75C2-AFEE-B89F-D5DCB9666CFE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DD992-9BD8-3BC6-82F1-2F10654F5ED5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D3A933-A8D2-B01D-C348-87446C50005A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701503-B534-2872-CBAB-3BA85ADD7A6B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56D8F3-1B65-B6CA-A428-A7609682E7C7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AE121B-E35E-2C45-89A6-1AB554DCF30B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127A4A-C2E7-AE34-AE97-9217050F0014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AEEB5A-3525-9921-82B5-65C3D1003BF5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B96227-2D67-1FF7-E689-BAF45E042E3D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A20561-935B-E83B-C97B-530225846922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57D263-E374-82BD-77AD-8D06087BAD1B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3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D4147B-05ED-EE0A-C873-5F4F7AFEF0B5}"/>
              </a:ext>
            </a:extLst>
          </p:cNvPr>
          <p:cNvSpPr txBox="1"/>
          <p:nvPr/>
        </p:nvSpPr>
        <p:spPr>
          <a:xfrm>
            <a:off x="1109393" y="4357358"/>
            <a:ext cx="173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BFC053-1D42-89BD-5B60-3EF073CE4652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A18EFD-3EAC-C045-8EC7-742A180E2957}"/>
              </a:ext>
            </a:extLst>
          </p:cNvPr>
          <p:cNvCxnSpPr>
            <a:cxnSpLocks/>
          </p:cNvCxnSpPr>
          <p:nvPr/>
        </p:nvCxnSpPr>
        <p:spPr>
          <a:xfrm flipV="1">
            <a:off x="3783416" y="4724256"/>
            <a:ext cx="4632786" cy="9345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B2105A-378E-8646-25E4-77D499836E23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7A349-7D85-B4FC-8F0F-0A6E2AA38F3F}"/>
              </a:ext>
            </a:extLst>
          </p:cNvPr>
          <p:cNvCxnSpPr>
            <a:cxnSpLocks/>
          </p:cNvCxnSpPr>
          <p:nvPr/>
        </p:nvCxnSpPr>
        <p:spPr>
          <a:xfrm>
            <a:off x="3783416" y="4724256"/>
            <a:ext cx="4660368" cy="92978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D52EE6-4C23-7015-B1B6-36590CCD9093}"/>
              </a:ext>
            </a:extLst>
          </p:cNvPr>
          <p:cNvSpPr txBox="1"/>
          <p:nvPr/>
        </p:nvSpPr>
        <p:spPr>
          <a:xfrm>
            <a:off x="5111030" y="5760634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Blocking Pair!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E79E68-65EF-0F18-E24B-DE0EA9E9994B}"/>
              </a:ext>
            </a:extLst>
          </p:cNvPr>
          <p:cNvCxnSpPr>
            <a:cxnSpLocks/>
          </p:cNvCxnSpPr>
          <p:nvPr/>
        </p:nvCxnSpPr>
        <p:spPr>
          <a:xfrm>
            <a:off x="3775800" y="3815297"/>
            <a:ext cx="4616987" cy="78785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353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C069-E473-A321-43C8-CAAD5BD5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4342-362C-4A45-D828-4F06305E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D16D59C5-A69F-34D8-13EE-6B659C3CD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179E87D8-642B-7B9F-B2BA-3E8717D4FA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B96E6322-C424-71E0-8F33-A7E66C39CB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7C56C6D5-1217-CF6D-924F-0E3CE03211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2CDD7CE8-F16B-33FD-99E4-E18C69353C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58D26235-FCF6-EADE-91E4-1AF7D214E9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51E9FA13-7518-4008-E155-C3B0B9F3168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48845C18-050F-34E8-44E1-F15D9A61D2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17477F3-19F4-FEAB-7574-FFF19263E31C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73955A-19FE-FC0F-77BB-2119E1416A28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0C5DCA-D80B-AC02-EE89-F2CD54DB82FA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82D146-1F2A-9653-9C8A-82F42E460CC3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DC78F8-B67B-6AA0-A993-A5C3AD4C956D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A398A3-3CE6-7A05-7941-47DFDECE3E55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0DD2E6-0FDC-518D-0FC5-70ABC9CCFC8D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14267D-EAC3-031B-8F31-6B710BB1A435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6215E-A6CD-CF49-F640-CA1EF36DBA0C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F98092-0D16-CB89-01A8-F4B02CA904C1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BA4B23-1AD9-0A8E-9494-E244D42DFEF8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C84E72-6A79-8AC8-EDC3-80830835CE5D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5FD462-4B4A-3ADC-B11A-EFC1B8BF8690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667884-F325-DC57-2277-3029AFEAE2D4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,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37DC33-A9E6-BBE7-63A5-E706C1FEEF90}"/>
              </a:ext>
            </a:extLst>
          </p:cNvPr>
          <p:cNvSpPr txBox="1"/>
          <p:nvPr/>
        </p:nvSpPr>
        <p:spPr>
          <a:xfrm>
            <a:off x="1109393" y="4357358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1627E4-2FA5-DC1E-9ADB-13B2EB779CD1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957C92-4EB3-4361-B029-E5C89DD9DEE0}"/>
              </a:ext>
            </a:extLst>
          </p:cNvPr>
          <p:cNvSpPr txBox="1"/>
          <p:nvPr/>
        </p:nvSpPr>
        <p:spPr>
          <a:xfrm>
            <a:off x="4652010" y="57656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 could report false preferences</a:t>
            </a:r>
          </a:p>
        </p:txBody>
      </p:sp>
    </p:spTree>
    <p:extLst>
      <p:ext uri="{BB962C8B-B14F-4D97-AF65-F5344CB8AC3E}">
        <p14:creationId xmlns:p14="http://schemas.microsoft.com/office/powerpoint/2010/main" val="32657964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C196-F5B4-8D9A-404D-A98A35F7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07DB-ED02-264F-40B8-469263B6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Immediate Acceptance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47C287B9-BA2D-2C78-0275-0AE37DC26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D43AA4F0-31A4-136B-B410-4C60FAB321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55D823B6-9625-51A8-A397-0CE488F3E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417F4BA7-713B-2825-DE41-0312D42C22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BBEB8B5A-1746-DCB6-F8F2-C21FC4FFED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B0AEF6B2-C233-F62C-41CB-7811140CFA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6480F9C4-3707-6700-12FB-B93A44B82B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4BB74BBC-EC9F-6142-1B8E-6DA87C7ECE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54227F1-C204-368C-0DC2-26FA98A8739B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252B63-33AC-D3E0-08FF-B149C734F27F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A43D02-3948-9DC5-D86E-EF2CBD99AE3C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80C476-3A98-DD6B-C8AB-EEA12376D2E8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726FE-F34A-E70F-BE24-D8C2CCA18DE9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0E663A-55D6-A05B-85AF-ADD675CDDCA2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F0A766-0DA6-3A39-9798-D25E05F8F091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C50327-6CFB-4B56-50B8-8D7F541C32FC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9328D2-7A6D-8A60-BBDC-3ADA929B3F40}"/>
              </a:ext>
            </a:extLst>
          </p:cNvPr>
          <p:cNvSpPr txBox="1"/>
          <p:nvPr/>
        </p:nvSpPr>
        <p:spPr>
          <a:xfrm>
            <a:off x="9462979" y="2594450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A , D , B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11ACE9-4652-BBC1-7ECD-9A77EADCB32D}"/>
              </a:ext>
            </a:extLst>
          </p:cNvPr>
          <p:cNvSpPr txBox="1"/>
          <p:nvPr/>
        </p:nvSpPr>
        <p:spPr>
          <a:xfrm>
            <a:off x="9754186" y="3524887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D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EF0595-8452-3D06-84E7-13D1A4CC01BE}"/>
              </a:ext>
            </a:extLst>
          </p:cNvPr>
          <p:cNvSpPr txBox="1"/>
          <p:nvPr/>
        </p:nvSpPr>
        <p:spPr>
          <a:xfrm>
            <a:off x="9625242" y="441848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D , C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A9AFD0-6328-9F87-3FD4-6C4C86A8FA7B}"/>
              </a:ext>
            </a:extLst>
          </p:cNvPr>
          <p:cNvSpPr txBox="1"/>
          <p:nvPr/>
        </p:nvSpPr>
        <p:spPr>
          <a:xfrm>
            <a:off x="9530786" y="5289463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A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25C830-3A26-F661-4E07-F1E332B87653}"/>
              </a:ext>
            </a:extLst>
          </p:cNvPr>
          <p:cNvSpPr txBox="1"/>
          <p:nvPr/>
        </p:nvSpPr>
        <p:spPr>
          <a:xfrm>
            <a:off x="1493981" y="2622356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07A9B1-36AF-F289-FCE6-CABB475B39B0}"/>
              </a:ext>
            </a:extLst>
          </p:cNvPr>
          <p:cNvSpPr txBox="1"/>
          <p:nvPr/>
        </p:nvSpPr>
        <p:spPr>
          <a:xfrm>
            <a:off x="1082995" y="345382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,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, 2 , 4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E4791E-7A27-3FA9-D7A5-F8D2DE9AF6B5}"/>
              </a:ext>
            </a:extLst>
          </p:cNvPr>
          <p:cNvSpPr txBox="1"/>
          <p:nvPr/>
        </p:nvSpPr>
        <p:spPr>
          <a:xfrm>
            <a:off x="1109393" y="4357358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11C806-2C7C-9BD5-9867-E88A2DED3A04}"/>
              </a:ext>
            </a:extLst>
          </p:cNvPr>
          <p:cNvSpPr txBox="1"/>
          <p:nvPr/>
        </p:nvSpPr>
        <p:spPr>
          <a:xfrm>
            <a:off x="1230610" y="5345866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4 , 1 , 0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08C90-DC10-80D6-1163-C07CAE67348C}"/>
              </a:ext>
            </a:extLst>
          </p:cNvPr>
          <p:cNvSpPr txBox="1"/>
          <p:nvPr/>
        </p:nvSpPr>
        <p:spPr>
          <a:xfrm>
            <a:off x="4652010" y="57656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 could report false preferences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B79C22-24D5-8FCC-9FE4-5CCFDC52B04F}"/>
              </a:ext>
            </a:extLst>
          </p:cNvPr>
          <p:cNvCxnSpPr>
            <a:cxnSpLocks/>
          </p:cNvCxnSpPr>
          <p:nvPr/>
        </p:nvCxnSpPr>
        <p:spPr>
          <a:xfrm>
            <a:off x="3783416" y="2890131"/>
            <a:ext cx="4507968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295B37-9D4F-4B34-3E8F-50A807FC549F}"/>
              </a:ext>
            </a:extLst>
          </p:cNvPr>
          <p:cNvCxnSpPr>
            <a:cxnSpLocks/>
          </p:cNvCxnSpPr>
          <p:nvPr/>
        </p:nvCxnSpPr>
        <p:spPr>
          <a:xfrm>
            <a:off x="3783416" y="3823158"/>
            <a:ext cx="4632786" cy="90109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A920EA-D8EB-77A3-373C-80B904C631E9}"/>
              </a:ext>
            </a:extLst>
          </p:cNvPr>
          <p:cNvCxnSpPr>
            <a:cxnSpLocks/>
          </p:cNvCxnSpPr>
          <p:nvPr/>
        </p:nvCxnSpPr>
        <p:spPr>
          <a:xfrm>
            <a:off x="3775800" y="4724256"/>
            <a:ext cx="4632785" cy="77738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877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7663-C889-6727-5A9F-13298676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945A-ED86-49E3-5CD3-70F3A9F0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97FB3050-9798-3545-4A0E-F4E082A44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9CCD073F-CE95-24B5-EDA4-2CA2B15894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66D504D9-CA7C-7033-B67F-A50C727564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C8F1DCD4-7CDB-1882-01C2-94D3E75290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369F8B5F-6552-D723-C061-3038EC57D6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07ABE92C-0986-E83E-9640-DF63AE2163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D9AEEBEF-E369-15F6-B5E4-D5DE08110A0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CC325188-1026-6C9A-BF47-EBD710C7A0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F39DBA-CC4E-D1D6-B081-4063D4A10B6D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6E8804-5E33-840F-E4E0-529DAF0F3CAD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6E09C4-092E-3664-5D99-1B786899AFAC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292FBE-D765-E1E8-D568-FC7DC268077B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7A0C8-D0BA-380A-35FC-975A799383BF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566E31-03B1-47FD-5B0F-8DE538F9E4ED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26C76C-60C5-03D3-9F4B-8A5C7BBD9E1C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9D05F-9712-0693-160B-FB7CF3F53D81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CEAFB6-520B-60DC-100D-8389A29B77FB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6A0D94-B198-B940-1D54-478826340742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9C0B14-11EE-08E1-6939-95D6C8B1063A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ED7BB3-0834-372D-B597-D99183B84D94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CFDA17-7FF0-F563-02F4-0F0C214EBFC1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BCA51E-CAEB-AFA7-A1B2-8005D4146830}"/>
              </a:ext>
            </a:extLst>
          </p:cNvPr>
          <p:cNvSpPr txBox="1"/>
          <p:nvPr/>
        </p:nvSpPr>
        <p:spPr>
          <a:xfrm>
            <a:off x="9468177" y="3429000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551FE-7D2B-164B-F2E7-B4EF3DBEB52C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6752F3-0F9A-A79B-7AA7-13C6D2C9E356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</p:spTree>
    <p:extLst>
      <p:ext uri="{BB962C8B-B14F-4D97-AF65-F5344CB8AC3E}">
        <p14:creationId xmlns:p14="http://schemas.microsoft.com/office/powerpoint/2010/main" val="2003122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BBD0-EADF-653F-B569-A07C85ED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BBB1-80B2-0CC5-15E8-0136E17B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A6C9B265-B703-3944-60EE-DCC78C76A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9C50E263-9EE1-2779-C314-C7AF7D05DD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3E432611-F197-C28E-996F-7F3B519785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F127364E-656C-6EA8-3B2E-3D3B393B56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540E940A-7B32-5F14-F2B6-462B710EE4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9CB2AD56-BC11-54A2-D287-064E0286A6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6EC68B29-9A30-2BF9-964C-CD249CD861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6C09AB2C-2312-87B6-E7AD-D90DF5B815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306B4A-FADF-7067-F913-CBA8B5FC49A2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90A900-2F1E-A8E4-9261-673F23627AB7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07C7DA-6C31-95C9-2AE7-8EE6BBBB2800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59B210-BDA9-5CDF-5426-178129A00B52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D15B49-BBE3-90D2-5375-B73E60727249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9795F6-D576-AFC7-9E67-BE7F621E2A03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195334-2B9D-AB24-4A5C-02D8E9A0C037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578624-740B-3B57-0FB4-5B33119DD85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FF77CE-8445-8743-7676-EC0611245139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F78F30-A3C2-9A5B-A8B2-B5F8D8E3A399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43DBEE-1FD5-FCE2-AB50-7D9D6638AAE6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CF73EA-5326-B67C-7C5C-E7FFBCE4D40A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01204F-0977-6A28-A6A5-EDA6BB183304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096075-C2E1-4D7F-1D27-582A66E5CFDB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9FF54F-5E3C-758C-C552-630BF1E20E4E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F45FC1-58C8-76B8-8482-8AD17BD3CFE6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B8A1DA-BCA1-6BCC-351F-00780698D8EE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80D94A-1C9F-B24D-17AD-4150E6D3A926}"/>
              </a:ext>
            </a:extLst>
          </p:cNvPr>
          <p:cNvCxnSpPr/>
          <p:nvPr/>
        </p:nvCxnSpPr>
        <p:spPr>
          <a:xfrm flipH="1">
            <a:off x="3988593" y="4676631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9D9372-D1B0-CCAD-CDC9-2B52935817CA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222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62B7-1371-AF18-AB5A-C01F9951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E25E-5F0D-3C25-DCD7-B7C5EF00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6EA89EEB-2650-320A-D701-5A4217D90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BF2098E0-80AF-2A9E-AE96-3EFC0D1B0F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37F99B4C-6CF1-4765-4FB2-93357B7429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FE2610D7-D916-1DB8-DE52-60DA0EE589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7135ABBF-409B-EB3B-F786-0A967E00FF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F3DE1FF0-5FDC-4138-B7EC-D0D1800AC9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0E9FDB44-284E-9E80-C112-9CED2ED037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ED602B8E-F404-2936-2522-70CD08ADF58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B4364FB-E070-A9BB-73FE-89D82F1C2ECF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7ED1E4-4EF6-BD85-B819-9FBBBD902A0D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ADF626-06F1-8B0D-265F-008EFC0DE390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1CB68E-24A2-C83B-5F81-F832E5C40E6D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19FA63-EC4D-EB76-6640-F32E64AA2D8B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6ADFDD-7E6B-5969-842A-FE8EB4C0F0B8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882307-E655-C993-238D-870065EA9B8E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B395EE-5B6B-DE42-D46F-277FE8E04CB8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F56F1A-F05C-DE15-E4DC-CEE64AB5809D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EE626B-749A-9645-0490-B9E030F34979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A69D5E-2AED-3D24-3352-843D3B44BD78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013AE-2A62-9E01-F1FD-AFF7982BF826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DEC0B3-8475-AEE9-E858-9BD26A810F68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3A4CC2-6A18-15B7-088F-56C17E7B4664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0DD7CB-283C-7DC3-7D93-486ACB4EEC37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83517A-227F-C24C-C5A1-8F1BCC49A861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F3DB697-B18B-E9B3-0200-97129AAEF339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748A3D-7E71-1302-C869-3224CD6D42B3}"/>
              </a:ext>
            </a:extLst>
          </p:cNvPr>
          <p:cNvCxnSpPr/>
          <p:nvPr/>
        </p:nvCxnSpPr>
        <p:spPr>
          <a:xfrm flipH="1">
            <a:off x="3988593" y="4676631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A26342-179E-D988-9DB0-CD27CE03DA20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322FAB-0878-AB30-3EB1-CB92E19A681E}"/>
              </a:ext>
            </a:extLst>
          </p:cNvPr>
          <p:cNvSpPr txBox="1"/>
          <p:nvPr/>
        </p:nvSpPr>
        <p:spPr>
          <a:xfrm>
            <a:off x="3974777" y="5457825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80BA0-FDE4-671A-5DA0-BAD924E26F20}"/>
              </a:ext>
            </a:extLst>
          </p:cNvPr>
          <p:cNvSpPr txBox="1"/>
          <p:nvPr/>
        </p:nvSpPr>
        <p:spPr>
          <a:xfrm>
            <a:off x="7305098" y="3467160"/>
            <a:ext cx="98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Vacancy!</a:t>
            </a:r>
          </a:p>
        </p:txBody>
      </p:sp>
    </p:spTree>
    <p:extLst>
      <p:ext uri="{BB962C8B-B14F-4D97-AF65-F5344CB8AC3E}">
        <p14:creationId xmlns:p14="http://schemas.microsoft.com/office/powerpoint/2010/main" val="1968934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6F7B-3895-B2B0-FB3F-FA6CD408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1B79-34D8-1F95-220E-C9758683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C4D026B5-3184-B691-EAC4-65C13BB1B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C7E8D5AC-C680-C47D-F773-E85A6AE2C8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730C6933-140A-A211-8256-434C45CD2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D9D7D5E4-B0F1-0430-8EA6-3721790FE4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9F7B8453-79ED-B356-E766-07F4C6D3F7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0527ABF-AA32-5F44-DE5D-D128C7AF5E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07C5A8D7-5B54-5838-F1F3-8B3698F21BA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6E8A8AEB-5900-9624-93A3-E8020044266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EA4952E-C44B-9BBA-1743-4E39D364E6AA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8B9A33-4FE7-3851-DABD-2BC733A7BBC3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51B17B-D0B7-203D-9E32-90E5B92BA6C6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7A2766-DD32-8CB6-F096-3F4FD025D63E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5C6C60-FABA-EC22-D774-F8BCC3E36038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9491E2-36C9-D571-006F-05328AABCC6C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A195DD-680C-BA03-623E-B8D343C697C5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BA21AC-21F6-F9B6-1577-7FA4DCCD4152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CF4AE-7709-AAC3-ADD4-3A43A2CE557D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B8B2CE-9897-8DD1-3C33-924B1D752566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A7F753-3710-6D38-036F-3DEC360206FB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D2D868-7F08-E730-A5A3-7648C6A93F57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7F952C-0316-B585-9CE5-2E8D45CBA5DB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EAE35D-F57C-832C-2B06-A5275D27FBD0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E5A7D-CAD8-A61D-E1EC-D8C961E17B33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8C1C1A-8910-6C42-30C6-117876F17C1F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25E451-EE89-1212-11CA-755335042CBB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309444-BB85-1441-201F-BA386A522A64}"/>
              </a:ext>
            </a:extLst>
          </p:cNvPr>
          <p:cNvCxnSpPr/>
          <p:nvPr/>
        </p:nvCxnSpPr>
        <p:spPr>
          <a:xfrm flipH="1">
            <a:off x="3988593" y="4676631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CBFDC0-AFCA-03BC-ED25-1BA67B95270B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B43A08-7BA6-E694-D2D4-4A4937F2D140}"/>
              </a:ext>
            </a:extLst>
          </p:cNvPr>
          <p:cNvCxnSpPr>
            <a:cxnSpLocks/>
          </p:cNvCxnSpPr>
          <p:nvPr/>
        </p:nvCxnSpPr>
        <p:spPr>
          <a:xfrm flipH="1">
            <a:off x="3988593" y="3785650"/>
            <a:ext cx="4427609" cy="815469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38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AA0A-1159-FB69-DDDE-581D255D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8CC9-08AB-66C9-9CF7-97EAD496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29EC81C8-324E-1EA1-6ACE-4A3BA39DB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953239C1-9E25-885D-9FBE-09FF02DD8E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160858BA-BE45-B0E7-1C0F-EDB506A6F2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8D8BF268-735A-CB58-C995-5AED29758D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D5A4B6BE-2B3B-AAEA-58CE-458735A2A9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864CD82D-DBF3-6EDF-8320-EAEBE2CBED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5EAB404C-A143-E535-6EAE-454BC9C8898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61346C1D-3B23-6014-CE0E-BDDC1CCB8A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2AEA48-4382-1B8E-2A92-738D449D274D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433DC-7B21-E744-BDAF-967FDB12EB2F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ED51D-F091-B40E-E688-0247FB96FA08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CAA376-BD94-B6CD-B818-E97602003789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9757B-FECE-85F8-89F5-7AFD49DCDAD1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83A9F-57BF-36B1-807F-EDFD470F623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F2738-BF62-7EBE-B182-3E71A00CC603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9C1DAB-0AC1-CC54-88EB-19EFC5858348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2467B1-3330-95B2-03AB-C2F4E6EFC88A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C3B268-2732-A39D-646E-A66FADEA458A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A64244-EB5A-C41F-71F8-E5D1E9BFE88F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24782E-2E38-7CE4-2CF4-A7076B2A1918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4CEF7D-D37B-7547-EFD5-6BDA443F4627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A15E58-B2AD-43CC-71CF-0287D84B8CAD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1BA18E-2B1C-21C7-D67C-3B5C851EADA7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86E300-E55C-FA68-046F-8BC85F9D3750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C7CE3B-266F-4A3C-AE8A-EE20F123CEA1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D08B97-D190-5CBC-ACC2-82CB5792DFD0}"/>
              </a:ext>
            </a:extLst>
          </p:cNvPr>
          <p:cNvCxnSpPr/>
          <p:nvPr/>
        </p:nvCxnSpPr>
        <p:spPr>
          <a:xfrm flipH="1">
            <a:off x="3988593" y="4676631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FEBE26-7CD8-9DC1-BC55-6CA7ADE1FFFF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8DE3AB-3623-5808-738B-8C5A96769A29}"/>
              </a:ext>
            </a:extLst>
          </p:cNvPr>
          <p:cNvCxnSpPr>
            <a:cxnSpLocks/>
          </p:cNvCxnSpPr>
          <p:nvPr/>
        </p:nvCxnSpPr>
        <p:spPr>
          <a:xfrm flipV="1">
            <a:off x="3988593" y="2944664"/>
            <a:ext cx="4214813" cy="7215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B87BC9-38AA-C9D6-E49A-BAD83A51491B}"/>
              </a:ext>
            </a:extLst>
          </p:cNvPr>
          <p:cNvCxnSpPr>
            <a:cxnSpLocks/>
          </p:cNvCxnSpPr>
          <p:nvPr/>
        </p:nvCxnSpPr>
        <p:spPr>
          <a:xfrm flipV="1">
            <a:off x="3923780" y="3666242"/>
            <a:ext cx="4492422" cy="69382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A3A574-9746-C565-3219-19A367D9A6E1}"/>
              </a:ext>
            </a:extLst>
          </p:cNvPr>
          <p:cNvCxnSpPr>
            <a:cxnSpLocks/>
          </p:cNvCxnSpPr>
          <p:nvPr/>
        </p:nvCxnSpPr>
        <p:spPr>
          <a:xfrm>
            <a:off x="3984786" y="2914857"/>
            <a:ext cx="4240896" cy="17172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97CF0B-A489-3B2E-C95F-1719C804E2D2}"/>
              </a:ext>
            </a:extLst>
          </p:cNvPr>
          <p:cNvCxnSpPr>
            <a:cxnSpLocks/>
          </p:cNvCxnSpPr>
          <p:nvPr/>
        </p:nvCxnSpPr>
        <p:spPr>
          <a:xfrm flipV="1">
            <a:off x="4054797" y="3970316"/>
            <a:ext cx="4211896" cy="14429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099C465-52EA-BEAA-5B3B-4AE849601743}"/>
              </a:ext>
            </a:extLst>
          </p:cNvPr>
          <p:cNvCxnSpPr>
            <a:cxnSpLocks/>
          </p:cNvCxnSpPr>
          <p:nvPr/>
        </p:nvCxnSpPr>
        <p:spPr>
          <a:xfrm flipH="1">
            <a:off x="3988593" y="3785650"/>
            <a:ext cx="4427609" cy="815469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1801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6837-318E-5247-2EC9-84A36DCB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295F-78C1-A0AC-7FE9-91BF1BA7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14398957-CEB9-0AC8-553D-6693DAA60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907EC7DF-057E-1BF1-D158-7FE094215F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C363DEEE-36EC-2811-6952-EB5E8A388C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AE1A5B46-ACC1-E785-FAC9-A51481ED4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F4C46FB2-6F0B-CB53-8409-6B2AFE630B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3ECBB1B3-6BA9-7E7D-0A0F-409D833C35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9EA0DDAC-F068-2976-62AC-117103C9C9E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A1774B2C-F8A0-A1B2-D3A6-37D8912EFC5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6229AF2-2FC6-4526-FBEC-31072CE5BA78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DA7FD-BCF7-F36E-3724-CE85EE08BE4C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70226B-DEE7-C073-DF11-C251D38787CB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F67986-164E-CB6E-9B3D-2B9C25618A05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6F52A5-24EC-7776-B655-89F4F886F3CB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525C0C-2D59-CBD3-3905-530016F0797F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9353DC-62EA-915A-2965-37402E191AE0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4A1015-A2E3-AA96-B87E-D5A55CD0FB08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DBA937-8967-7D22-576D-41BFC2F0906F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3322E3-94BD-5348-759F-4206DAE55981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B0B9EB-E669-F8D9-B1C3-70D366016162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FF0B7D-A5B7-C231-39B7-EAA1F5FC9C2A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6F1B30-4CC7-F198-DEAF-2E0BB24B33D7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C19AA0-90B1-2A12-D1CF-9E09FF9F868D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6CE685-D42F-B449-380C-225BAA340931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5F19AA-7593-C27B-13EB-73AEBB4BCD6C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56BA9B-47E6-66E7-2867-3A255650A69A}"/>
              </a:ext>
            </a:extLst>
          </p:cNvPr>
          <p:cNvCxnSpPr>
            <a:cxnSpLocks/>
          </p:cNvCxnSpPr>
          <p:nvPr/>
        </p:nvCxnSpPr>
        <p:spPr>
          <a:xfrm flipV="1">
            <a:off x="3923780" y="3666242"/>
            <a:ext cx="4492422" cy="69382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F5D743-9392-9C9B-F6FF-1F0F27B85BD4}"/>
              </a:ext>
            </a:extLst>
          </p:cNvPr>
          <p:cNvCxnSpPr>
            <a:cxnSpLocks/>
          </p:cNvCxnSpPr>
          <p:nvPr/>
        </p:nvCxnSpPr>
        <p:spPr>
          <a:xfrm flipH="1">
            <a:off x="3988593" y="3785650"/>
            <a:ext cx="4427609" cy="815469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642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B532-00F5-034D-A15E-051F18DF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60E8-9425-4814-B213-3EB2A907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E3DF969E-5B00-E9D5-D18A-E86FE9772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CC9D7D9C-4277-7376-4CF1-096D53F9E3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B49B5F4D-ADDC-BBFD-0ABC-5E8A6EC660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464B3EF2-E26C-6DAA-6F0F-AD0006B4E1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21AFB3C6-5551-3AEC-7BF1-D59F2ABAD7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1FE81100-0BE3-DEB8-7392-8CC4A9590C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CD2DCCA5-AD73-9B98-6A29-4A5214A4F47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05CD2D1D-9660-1E16-BFCD-2FC59AC836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1A75D1-C344-7EF8-BC13-22A09893267E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71374-09F9-0454-05EE-6A0FE2532854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ED165-1BE9-1809-971B-4682F6EFCC80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D76861-A04D-00E7-1216-BFEA12A9F110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1C8049-9CE4-2F36-EDB8-FB2D9C8A5614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0E0320-3895-FB81-47C4-DE7E5A69FCDB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3BADE-EAFD-B898-E6A3-D5B6AEC73A5B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08A07-0BC1-320A-D09B-3D264C68638E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CA4D1E-C979-9CF6-EB8C-21A500E55813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F0E0BB-8F67-EC69-D7F9-435B9AC49888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9FD200-C082-BB17-6512-3D42BEDEC523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56978B-E5E1-2933-A595-CA90460D7A0A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9D37EB-392C-49C6-520B-016BA3049EFC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EAD646-C27D-E272-BD7B-C2E6DC37FB2A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771AB8-4B95-E23C-2F30-FEDB8723152B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AE78CF-0D16-A08E-5D3D-D3771C080527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BB27D0-7D96-11B4-D97A-E26257303AD1}"/>
              </a:ext>
            </a:extLst>
          </p:cNvPr>
          <p:cNvCxnSpPr>
            <a:cxnSpLocks/>
          </p:cNvCxnSpPr>
          <p:nvPr/>
        </p:nvCxnSpPr>
        <p:spPr>
          <a:xfrm flipV="1">
            <a:off x="3923780" y="3666242"/>
            <a:ext cx="4492422" cy="69382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95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C57-4540-7AFE-3266-EF46E6D0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4698-4468-BBB5-8C9D-784C8382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11B65CAC-7645-2CD7-EA33-D3B319CBB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A932FB64-07E4-74BD-E657-CF9F9DD091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A9A3AFFB-5188-EED9-739B-C9DD38A28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D5B71F64-BD6A-64DD-B7EC-2B171FBAC0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072E6DDB-3B65-1F6D-BE29-249C965CB6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92561475-47DC-7149-7B56-79BC3FDFA4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CEBCB7B-7123-9775-2395-C503EDB780FA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0F8E1D-2272-28CE-AB9D-B079BBA4F5D5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095BDD-5EA6-CD16-A512-8E700E842AD0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3A6596-37E4-C3E2-9F49-68569C022FCD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297E62-8511-C23E-B79D-FE252AF609E8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B1574-E871-961F-A774-9053D208EE8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E4FD86-F5C3-FDAB-C05A-ECD81906E80B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413D74-E0C7-A5A6-6126-37EC74BADEEE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C7A948-AB45-AEE8-90B4-4910EC433987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F6DE9D-F50D-FA74-EB6E-223676DBF756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C27F27-3293-C60A-C7CC-2DB248FAD1DE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4B38D3-5021-57AB-97B7-AD0ACC9989E0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860857-1DEB-B15B-B7DB-FB93A11B5D72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61A8D6-0BDC-7295-26BE-86C33791A7BC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9E2AA72-AE33-EF8A-CB8C-CD8132429320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165DF7-1035-FD0A-FAB8-C27118660EEF}"/>
              </a:ext>
            </a:extLst>
          </p:cNvPr>
          <p:cNvCxnSpPr>
            <a:cxnSpLocks/>
          </p:cNvCxnSpPr>
          <p:nvPr/>
        </p:nvCxnSpPr>
        <p:spPr>
          <a:xfrm flipH="1" flipV="1">
            <a:off x="4054797" y="4632101"/>
            <a:ext cx="4148609" cy="4453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C56BD3-5EE8-A44F-FF31-ADDBBEA1BFF6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A5D4A9-CE0D-D47A-4D14-C679C9308BFD}"/>
              </a:ext>
            </a:extLst>
          </p:cNvPr>
          <p:cNvCxnSpPr>
            <a:cxnSpLocks/>
          </p:cNvCxnSpPr>
          <p:nvPr/>
        </p:nvCxnSpPr>
        <p:spPr>
          <a:xfrm flipV="1">
            <a:off x="3988593" y="2944664"/>
            <a:ext cx="4214813" cy="7215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58B6299-A995-186E-026C-C371CB975DB5}"/>
              </a:ext>
            </a:extLst>
          </p:cNvPr>
          <p:cNvCxnSpPr>
            <a:cxnSpLocks/>
          </p:cNvCxnSpPr>
          <p:nvPr/>
        </p:nvCxnSpPr>
        <p:spPr>
          <a:xfrm>
            <a:off x="3984786" y="2914857"/>
            <a:ext cx="4240896" cy="17172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268FEA-8FDC-E911-3FC8-E5D69F150B76}"/>
              </a:ext>
            </a:extLst>
          </p:cNvPr>
          <p:cNvCxnSpPr>
            <a:cxnSpLocks/>
          </p:cNvCxnSpPr>
          <p:nvPr/>
        </p:nvCxnSpPr>
        <p:spPr>
          <a:xfrm flipV="1">
            <a:off x="4054797" y="3970316"/>
            <a:ext cx="4211896" cy="14429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6708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61C6-0497-9230-A59E-F1627309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89CB-4F5F-43AB-47A0-AA6C58C3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738DBF81-C475-6A1D-B385-8F55482EE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C9F27F73-E5C3-9FEF-640A-E43510D3A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D2D0B639-94FC-4FB8-4DFC-108A6A492D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E4968192-D531-7EA1-F46E-8F36AD543D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1EF77EFC-07E8-4898-0DC6-3DD8F2E22E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4E9E6C33-47F3-8491-55CE-6821A5F4C8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A999A6-0CE7-1FFF-5CED-44A6CBD71C6C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43C3A-0D57-209D-B8D1-77D320D0A4CB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A56A1-F8A3-1D91-5FA6-06A73A2FCD6D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323B21-8FBA-CC44-0B13-D392E1E382DB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A8E070-DB53-CA66-6B71-E8B0B8944DAE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CEC590-6482-2ED1-80A9-6F2A8A7E627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E0100-E0FF-D340-E583-6694B9AF5148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87541D-A122-4A62-A496-3563D15525C4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273909-EF8E-ABD6-37C6-87280AA0F87E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9D5223-0871-3C37-7765-6EAF60CD406B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126A34-BF95-D653-D2BE-79F4D79F3CC8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37CCDE-EB82-C121-DF2B-0440F2D34F0B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0E8C6D-80C5-A9FB-E1B0-68356FD3AEE7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FAF040-359B-6EF3-BADD-D4F3C967EE3C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B57C51-64C1-34F7-B8F2-FC706F2DCEF9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60C71A-E55F-A5DA-17D0-C1F3150E3CA8}"/>
              </a:ext>
            </a:extLst>
          </p:cNvPr>
          <p:cNvCxnSpPr>
            <a:cxnSpLocks/>
          </p:cNvCxnSpPr>
          <p:nvPr/>
        </p:nvCxnSpPr>
        <p:spPr>
          <a:xfrm flipH="1" flipV="1">
            <a:off x="4257675" y="3785650"/>
            <a:ext cx="3945731" cy="890981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37D3F-C2C0-005E-46FA-7BD6A430A716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6DE4C63-05FE-202B-4F6C-8C584F050FE3}"/>
              </a:ext>
            </a:extLst>
          </p:cNvPr>
          <p:cNvCxnSpPr>
            <a:cxnSpLocks/>
          </p:cNvCxnSpPr>
          <p:nvPr/>
        </p:nvCxnSpPr>
        <p:spPr>
          <a:xfrm flipV="1">
            <a:off x="3988593" y="2944664"/>
            <a:ext cx="4214813" cy="7215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DB3C10-9AAB-13A0-4E3A-5EC6C5D2CC24}"/>
              </a:ext>
            </a:extLst>
          </p:cNvPr>
          <p:cNvCxnSpPr>
            <a:cxnSpLocks/>
          </p:cNvCxnSpPr>
          <p:nvPr/>
        </p:nvCxnSpPr>
        <p:spPr>
          <a:xfrm>
            <a:off x="3984786" y="2914857"/>
            <a:ext cx="4240896" cy="17172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6CE535-7F42-67B7-9B4F-C9060713CEB9}"/>
              </a:ext>
            </a:extLst>
          </p:cNvPr>
          <p:cNvCxnSpPr>
            <a:cxnSpLocks/>
          </p:cNvCxnSpPr>
          <p:nvPr/>
        </p:nvCxnSpPr>
        <p:spPr>
          <a:xfrm flipV="1">
            <a:off x="4054797" y="4771488"/>
            <a:ext cx="4170885" cy="64180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288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6B07-04A6-7EBF-8D47-53CB67D1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0EA3-71AC-93C6-19AC-4812AA70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5EF5763F-CB7F-AD82-1C65-C8BE62A7D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7FD39F6A-020B-00EC-D403-034E0A990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796420A4-922A-24C6-2744-AFF12F5570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89125AC0-8FA5-FE52-05F3-8A97C08F5D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976D255C-B66C-13CC-CC1E-746FEEC574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3F17B54F-50ED-9D45-FBDC-B46C5B8585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4D9F6EE-5645-FF6C-26DA-FCAFE0488310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8ED142-4DEA-C75C-5421-6CAEF787F2D9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33C3C-45F7-7859-5853-0512A54FF31A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5AF546-0F6C-6950-FE90-BB4E11665A2E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8E8DC6-E3D4-9636-743E-C1C63CA15566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FE871B-085D-88F8-38DA-A775C33E9AAA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67BD09-BF49-3774-2C25-92C052930ECE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EF4D7-4ACF-E54D-518B-6B8D52C44650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E0EB70-7B4E-CBE9-2F10-8149E5EA5598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48B411-BA28-DD62-C5A9-73E6FAC63B3D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220A23-9C22-1CA2-49AD-61427F76902F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4AFC6D-4222-A54F-A256-07C07D0B18B5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4F1953-9CDB-FDD6-5B8B-9087BCB850A3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C8F2BE-2B70-FCD3-DB0E-5EA4908EF312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FBD9994-048E-7E23-0E4C-ED226E578FC2}"/>
              </a:ext>
            </a:extLst>
          </p:cNvPr>
          <p:cNvCxnSpPr/>
          <p:nvPr/>
        </p:nvCxnSpPr>
        <p:spPr>
          <a:xfrm flipH="1">
            <a:off x="3914775" y="2786063"/>
            <a:ext cx="4214813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316BBC-F4D3-0D73-4D85-95E7AAB81234}"/>
              </a:ext>
            </a:extLst>
          </p:cNvPr>
          <p:cNvCxnSpPr>
            <a:cxnSpLocks/>
          </p:cNvCxnSpPr>
          <p:nvPr/>
        </p:nvCxnSpPr>
        <p:spPr>
          <a:xfrm flipH="1" flipV="1">
            <a:off x="4257675" y="3785650"/>
            <a:ext cx="3945731" cy="890981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A75900-EF17-0B7F-80A1-AD17A8A48A0A}"/>
              </a:ext>
            </a:extLst>
          </p:cNvPr>
          <p:cNvCxnSpPr>
            <a:cxnSpLocks/>
          </p:cNvCxnSpPr>
          <p:nvPr/>
        </p:nvCxnSpPr>
        <p:spPr>
          <a:xfrm flipV="1">
            <a:off x="3988593" y="2944664"/>
            <a:ext cx="4214813" cy="7215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FC4A0F-A6A4-EA12-74C8-4181DCD7CBCA}"/>
              </a:ext>
            </a:extLst>
          </p:cNvPr>
          <p:cNvCxnSpPr>
            <a:cxnSpLocks/>
          </p:cNvCxnSpPr>
          <p:nvPr/>
        </p:nvCxnSpPr>
        <p:spPr>
          <a:xfrm>
            <a:off x="3984786" y="2914857"/>
            <a:ext cx="4240896" cy="171724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385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8DDD-9057-1A47-5F4A-13B30DE6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CF5-2D66-564D-D325-B9158753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E545C28E-3D64-8833-8F27-522302C3F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838294E0-C10F-40D4-9220-7CC8ED5E1E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D37BD12F-AA32-29C1-A811-C8CFE3325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B6147721-CBD7-61AE-F739-A6585CA498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3C074777-795F-517B-3B83-A095AAA369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0003C9E0-E0A0-A912-952E-AC4C618AB2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9E3296-78A9-2D5E-E82D-46B36C9777B6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6F02E7-D74E-F595-EB8A-3F9160516BE1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202F90-118D-BB7F-7CBA-9F1888C9616C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3FBDC-1B5E-24A1-7B32-9184C60EE580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6CF20E-B63E-7F1F-D82B-E02C8BE9F013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41C880-E517-8EE0-1C89-849116CEEA83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7FDCA1-2968-C46C-5089-68B0F983BDCB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C50B3D-09E7-97FF-211D-A3BB571B6AD6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6CF1C-F81E-5239-027A-00EF5DE1DA0B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5814D-B517-DDC8-BEA0-643A7622DC12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A3FF68-2DC2-7502-A5B8-84CE957AB68B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B176EE-BF05-7BFE-539A-1922268EC77E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635A4E-ABC9-E114-FDCB-9ABAEB393C82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216764-D175-EB99-63FE-B4381E138307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11B870-B618-9C08-B4B3-5AE3AD75B357}"/>
              </a:ext>
            </a:extLst>
          </p:cNvPr>
          <p:cNvCxnSpPr>
            <a:cxnSpLocks/>
          </p:cNvCxnSpPr>
          <p:nvPr/>
        </p:nvCxnSpPr>
        <p:spPr>
          <a:xfrm flipV="1">
            <a:off x="3988593" y="2944664"/>
            <a:ext cx="4214813" cy="7215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EE846F-D268-41BE-F872-2C60099123BD}"/>
              </a:ext>
            </a:extLst>
          </p:cNvPr>
          <p:cNvCxnSpPr>
            <a:cxnSpLocks/>
          </p:cNvCxnSpPr>
          <p:nvPr/>
        </p:nvCxnSpPr>
        <p:spPr>
          <a:xfrm>
            <a:off x="3984786" y="2914857"/>
            <a:ext cx="4240896" cy="171724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2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439F-63D1-5221-2BF5-3D9E606E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CB52-4D60-623A-E263-F8A00D27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136FA3F6-8F9C-FE83-6E8A-9A66A43B1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F55CC531-82AC-165A-22B6-221A7D5101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C38EE7-91A6-3D79-9913-A427566CCFDF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E5C10-E196-2B7D-769E-485F48E2B5BE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DA637A-28F1-47E9-3A60-3A814623FC60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7C89A-4102-3348-7052-1DBB27811440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FD72FB-4505-CF63-0217-9C50B426EB4B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F7C3B4-7E0E-D593-C4C3-DE47BE9459F4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396679-5C28-5CC5-2883-40211F3A129B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5D109-E6F1-1265-A697-5A5DA945CBC4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F1F878-9108-C985-ED52-FDDFFC93DCCB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EB5783-F010-C354-15D5-F1BDCD97A7BF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5C6960-E9E0-6E3E-AEE2-F39CE711B79E}"/>
              </a:ext>
            </a:extLst>
          </p:cNvPr>
          <p:cNvCxnSpPr>
            <a:cxnSpLocks/>
          </p:cNvCxnSpPr>
          <p:nvPr/>
        </p:nvCxnSpPr>
        <p:spPr>
          <a:xfrm flipH="1" flipV="1">
            <a:off x="3988593" y="3785650"/>
            <a:ext cx="4419992" cy="1672175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0C0C23-643D-384C-0A26-D3A8C079AA88}"/>
              </a:ext>
            </a:extLst>
          </p:cNvPr>
          <p:cNvCxnSpPr>
            <a:cxnSpLocks/>
          </p:cNvCxnSpPr>
          <p:nvPr/>
        </p:nvCxnSpPr>
        <p:spPr>
          <a:xfrm flipV="1">
            <a:off x="4054797" y="3970316"/>
            <a:ext cx="4211896" cy="144297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842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FACE9-F7B7-EF83-9BDF-5B1B9BD1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1727-74D0-8B21-ADE3-364F648D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ABCA4BCB-7303-7707-15FD-3E61CB024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0CC3AC48-0906-46E6-FFAF-7F987E81D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38E7BA-54A7-7C6B-97A2-D9FC5F0167C2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213BD-446A-7305-D8A3-78397961A7D3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2CE47C-A72C-32BA-E6F1-E0579EB3DFD5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710B8B-BB72-1C58-40AB-4ADBF201D4B7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8D325C-7E77-949D-761F-BDF3E937289B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E1F606-ABBE-28CD-D803-49C84C9E2C4B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1D08A1-7519-8DAC-6A66-F388FA2CB545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EF53B4-70C2-313E-9C59-DFCD8B1B1F5B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2CE68F-8CCF-E28C-F041-B05E0B175DDE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DA0D81-600D-7E42-F232-58A97E4D4B7F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0AB5A-AE89-3A7A-3F98-2556EAADF50C}"/>
              </a:ext>
            </a:extLst>
          </p:cNvPr>
          <p:cNvCxnSpPr>
            <a:cxnSpLocks/>
          </p:cNvCxnSpPr>
          <p:nvPr/>
        </p:nvCxnSpPr>
        <p:spPr>
          <a:xfrm flipH="1">
            <a:off x="3988593" y="5457825"/>
            <a:ext cx="4419992" cy="0"/>
          </a:xfrm>
          <a:prstGeom prst="straightConnector1">
            <a:avLst/>
          </a:prstGeom>
          <a:ln w="381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1B28F5-4569-032A-6E90-4E165C727ADF}"/>
              </a:ext>
            </a:extLst>
          </p:cNvPr>
          <p:cNvCxnSpPr>
            <a:cxnSpLocks/>
          </p:cNvCxnSpPr>
          <p:nvPr/>
        </p:nvCxnSpPr>
        <p:spPr>
          <a:xfrm>
            <a:off x="3988593" y="5654754"/>
            <a:ext cx="4419992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1521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BC30-3E39-83AD-EEB0-8BC8ADC6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3B7D-1797-4A10-22AB-0FD90E2F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EF7F6D68-0128-0829-FA44-01903656D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A0F5A428-1C69-6F0E-CFC1-1482DE762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4D44BA-03FF-7AEE-63F8-BA595B3ECFBD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4B7243-24CA-EF69-78A0-25B3A2B47BE9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29B07-958F-D848-22E4-18C423633DD5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0B8CAC-E508-EAF2-21B6-EFF98B4F46B9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6F934A-7428-17BC-4FA4-A4BDC972B9F7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F55D8-FA1B-E815-BA36-C25EAA752E78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3F0E25-D6F4-99F9-34E6-F4DCC7F3E063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232BD7-38C9-262A-ADAE-D340FC3958FE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81DF2B-97DA-F6DB-350F-5351027C0484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203255-C32E-E1A6-C6CE-CCFC209985C7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B8A098E-BA51-21CF-6161-EEB020E58A62}"/>
              </a:ext>
            </a:extLst>
          </p:cNvPr>
          <p:cNvCxnSpPr>
            <a:cxnSpLocks/>
          </p:cNvCxnSpPr>
          <p:nvPr/>
        </p:nvCxnSpPr>
        <p:spPr>
          <a:xfrm>
            <a:off x="3988593" y="5654754"/>
            <a:ext cx="4419992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2757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6CA83-D6BF-8B2D-D85B-E8B6A6AE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C5D0-E384-040B-5391-1D5D503A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089C98-EE63-1A48-2642-44004B84B7DB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0A897C-5E56-CE95-321B-FC8801E5DF2E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12EA3C-4C62-0344-40E0-BD3FD81F188B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0E98EB-F08B-D17A-65D7-CAFAC899BB06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9CEDA2-B83A-CA73-039E-7D6D3B7870F4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AAD811-C79E-EC8A-84CD-E93D04817955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690B07-23F3-748B-750D-CC4333940E78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4F95B5-1438-D3A2-87FB-1843D6D7A21E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C20C4-7C0E-BACF-3A03-DDECA9429EB5}"/>
              </a:ext>
            </a:extLst>
          </p:cNvPr>
          <p:cNvSpPr txBox="1"/>
          <p:nvPr/>
        </p:nvSpPr>
        <p:spPr>
          <a:xfrm>
            <a:off x="4673935" y="5737863"/>
            <a:ext cx="283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ALGORITHM TERMINATES</a:t>
            </a:r>
          </a:p>
        </p:txBody>
      </p:sp>
    </p:spTree>
    <p:extLst>
      <p:ext uri="{BB962C8B-B14F-4D97-AF65-F5344CB8AC3E}">
        <p14:creationId xmlns:p14="http://schemas.microsoft.com/office/powerpoint/2010/main" val="21517183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BE62-91CF-CCDC-D8C1-A6B7B361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6B27-DA06-1A52-F204-3CD2B62E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Trading Cycles</a:t>
            </a:r>
            <a:br>
              <a:rPr lang="en-US" dirty="0"/>
            </a:br>
            <a:r>
              <a:rPr lang="en-US" dirty="0"/>
              <a:t>									</a:t>
            </a:r>
            <a:r>
              <a:rPr lang="en-US" sz="1800" dirty="0">
                <a:hlinkClick r:id="rId2" action="ppaction://hlinksldjump"/>
              </a:rPr>
              <a:t>Return</a:t>
            </a:r>
            <a:endParaRPr lang="en-US" dirty="0"/>
          </a:p>
        </p:txBody>
      </p:sp>
      <p:pic>
        <p:nvPicPr>
          <p:cNvPr id="5" name="Graphic 4" descr="Doctor male with solid fill">
            <a:extLst>
              <a:ext uri="{FF2B5EF4-FFF2-40B4-BE49-F238E27FC236}">
                <a16:creationId xmlns:a16="http://schemas.microsoft.com/office/drawing/2014/main" id="{872FA241-EA70-8217-F6E9-EE77FC73D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400" y="2297672"/>
            <a:ext cx="914400" cy="914400"/>
          </a:xfrm>
          <a:prstGeom prst="rect">
            <a:avLst/>
          </a:prstGeom>
        </p:spPr>
      </p:pic>
      <p:pic>
        <p:nvPicPr>
          <p:cNvPr id="7" name="Graphic 6" descr="Doctor female with solid fill">
            <a:extLst>
              <a:ext uri="{FF2B5EF4-FFF2-40B4-BE49-F238E27FC236}">
                <a16:creationId xmlns:a16="http://schemas.microsoft.com/office/drawing/2014/main" id="{68BA225C-9C08-8604-D6E6-626CC023CA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1400" y="3173431"/>
            <a:ext cx="914400" cy="914400"/>
          </a:xfrm>
          <a:prstGeom prst="rect">
            <a:avLst/>
          </a:prstGeom>
        </p:spPr>
      </p:pic>
      <p:pic>
        <p:nvPicPr>
          <p:cNvPr id="9" name="Graphic 8" descr="Doctor female outline">
            <a:extLst>
              <a:ext uri="{FF2B5EF4-FFF2-40B4-BE49-F238E27FC236}">
                <a16:creationId xmlns:a16="http://schemas.microsoft.com/office/drawing/2014/main" id="{C9983B8E-85B8-3AEB-EFB5-8F99BF043F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4204" y="4129622"/>
            <a:ext cx="914400" cy="914400"/>
          </a:xfrm>
          <a:prstGeom prst="rect">
            <a:avLst/>
          </a:prstGeom>
        </p:spPr>
      </p:pic>
      <p:pic>
        <p:nvPicPr>
          <p:cNvPr id="11" name="Graphic 10" descr="Doctor male outline">
            <a:extLst>
              <a:ext uri="{FF2B5EF4-FFF2-40B4-BE49-F238E27FC236}">
                <a16:creationId xmlns:a16="http://schemas.microsoft.com/office/drawing/2014/main" id="{C3212FC3-E9BA-90A9-4910-B3A1774A9F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8701" y="5073332"/>
            <a:ext cx="914400" cy="914400"/>
          </a:xfrm>
          <a:prstGeom prst="rect">
            <a:avLst/>
          </a:prstGeom>
        </p:spPr>
      </p:pic>
      <p:pic>
        <p:nvPicPr>
          <p:cNvPr id="13" name="Graphic 12" descr="Hospital outline">
            <a:extLst>
              <a:ext uri="{FF2B5EF4-FFF2-40B4-BE49-F238E27FC236}">
                <a16:creationId xmlns:a16="http://schemas.microsoft.com/office/drawing/2014/main" id="{B71F0BE3-A065-3B71-43B3-C410AC5695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3398" y="4129622"/>
            <a:ext cx="914400" cy="914400"/>
          </a:xfrm>
          <a:prstGeom prst="rect">
            <a:avLst/>
          </a:prstGeom>
        </p:spPr>
      </p:pic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F0CAB5F0-447D-D56C-43F0-DE4A38DC0C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08585" y="2302798"/>
            <a:ext cx="914400" cy="914400"/>
          </a:xfrm>
          <a:prstGeom prst="rect">
            <a:avLst/>
          </a:prstGeom>
        </p:spPr>
      </p:pic>
      <p:pic>
        <p:nvPicPr>
          <p:cNvPr id="17" name="Graphic 16" descr="Building with solid fill">
            <a:extLst>
              <a:ext uri="{FF2B5EF4-FFF2-40B4-BE49-F238E27FC236}">
                <a16:creationId xmlns:a16="http://schemas.microsoft.com/office/drawing/2014/main" id="{FB374AFC-DEE8-6C83-F881-430EAC1BD8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22401" y="3242315"/>
            <a:ext cx="914400" cy="914400"/>
          </a:xfrm>
          <a:prstGeom prst="rect">
            <a:avLst/>
          </a:prstGeom>
        </p:spPr>
      </p:pic>
      <p:pic>
        <p:nvPicPr>
          <p:cNvPr id="19" name="Graphic 18" descr="Modern architecture outline">
            <a:extLst>
              <a:ext uri="{FF2B5EF4-FFF2-40B4-BE49-F238E27FC236}">
                <a16:creationId xmlns:a16="http://schemas.microsoft.com/office/drawing/2014/main" id="{C013B34B-4CFB-393B-E3A8-F9C0ECEBB1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73396" y="5035866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29AB4E0-FFCD-2DF2-054F-5C6468257A13}"/>
              </a:ext>
            </a:extLst>
          </p:cNvPr>
          <p:cNvSpPr txBox="1"/>
          <p:nvPr/>
        </p:nvSpPr>
        <p:spPr>
          <a:xfrm>
            <a:off x="266784" y="25702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Ahmed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9EE77A-5120-BCAE-4CF3-20A2A13923DA}"/>
              </a:ext>
            </a:extLst>
          </p:cNvPr>
          <p:cNvSpPr txBox="1"/>
          <p:nvPr/>
        </p:nvSpPr>
        <p:spPr>
          <a:xfrm>
            <a:off x="387810" y="34459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1F6E87-04D6-14EB-08F3-F07693113C30}"/>
              </a:ext>
            </a:extLst>
          </p:cNvPr>
          <p:cNvSpPr txBox="1"/>
          <p:nvPr/>
        </p:nvSpPr>
        <p:spPr>
          <a:xfrm>
            <a:off x="307319" y="4354924"/>
            <a:ext cx="74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724E7-2945-E3A3-C0A2-5C65FED8A32C}"/>
              </a:ext>
            </a:extLst>
          </p:cNvPr>
          <p:cNvSpPr txBox="1"/>
          <p:nvPr/>
        </p:nvSpPr>
        <p:spPr>
          <a:xfrm>
            <a:off x="318516" y="5345866"/>
            <a:ext cx="71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David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67B5A9-442C-CC9F-FFDF-6A96987AADD1}"/>
              </a:ext>
            </a:extLst>
          </p:cNvPr>
          <p:cNvSpPr txBox="1"/>
          <p:nvPr/>
        </p:nvSpPr>
        <p:spPr>
          <a:xfrm>
            <a:off x="11272661" y="2566519"/>
            <a:ext cx="28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C20686-C2A5-E292-EC6D-1EA7F2D2AEC0}"/>
              </a:ext>
            </a:extLst>
          </p:cNvPr>
          <p:cNvSpPr txBox="1"/>
          <p:nvPr/>
        </p:nvSpPr>
        <p:spPr>
          <a:xfrm>
            <a:off x="11297520" y="34538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4AF6EF-DBAF-C3C0-8A29-73FBFABBF1AA}"/>
              </a:ext>
            </a:extLst>
          </p:cNvPr>
          <p:cNvSpPr txBox="1"/>
          <p:nvPr/>
        </p:nvSpPr>
        <p:spPr>
          <a:xfrm>
            <a:off x="11297520" y="44021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BB248-5403-69DF-0ED4-3B1C880342AE}"/>
              </a:ext>
            </a:extLst>
          </p:cNvPr>
          <p:cNvSpPr txBox="1"/>
          <p:nvPr/>
        </p:nvSpPr>
        <p:spPr>
          <a:xfrm>
            <a:off x="11297520" y="5289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2C126A-29EF-97D1-A1AE-8B9E6E837CA2}"/>
              </a:ext>
            </a:extLst>
          </p:cNvPr>
          <p:cNvSpPr txBox="1"/>
          <p:nvPr/>
        </p:nvSpPr>
        <p:spPr>
          <a:xfrm>
            <a:off x="1159013" y="257020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3 , 1 , 4 , 2 , 0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22B332-1667-5767-14EE-1DC43B6BF8BC}"/>
              </a:ext>
            </a:extLst>
          </p:cNvPr>
          <p:cNvSpPr txBox="1"/>
          <p:nvPr/>
        </p:nvSpPr>
        <p:spPr>
          <a:xfrm>
            <a:off x="1304242" y="3467160"/>
            <a:ext cx="11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1 , 4 , 0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2FAC85-EBEE-A2DC-594E-B1E406B39B60}"/>
              </a:ext>
            </a:extLst>
          </p:cNvPr>
          <p:cNvSpPr txBox="1"/>
          <p:nvPr/>
        </p:nvSpPr>
        <p:spPr>
          <a:xfrm>
            <a:off x="1229807" y="4354924"/>
            <a:ext cx="139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4 , 3 , 0 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0C2A97-9715-4C62-E15C-9861CECB2EC7}"/>
              </a:ext>
            </a:extLst>
          </p:cNvPr>
          <p:cNvSpPr txBox="1"/>
          <p:nvPr/>
        </p:nvSpPr>
        <p:spPr>
          <a:xfrm>
            <a:off x="1126315" y="5345866"/>
            <a:ext cx="1669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2 , 3 , 4 , 1 , 0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E383C7-3769-39CC-A36B-CC1A185290B7}"/>
              </a:ext>
            </a:extLst>
          </p:cNvPr>
          <p:cNvSpPr txBox="1"/>
          <p:nvPr/>
        </p:nvSpPr>
        <p:spPr>
          <a:xfrm>
            <a:off x="9505888" y="257533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A , B , C , D , 0 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69BB5-2B26-AC4C-8E38-335CAD25145C}"/>
              </a:ext>
            </a:extLst>
          </p:cNvPr>
          <p:cNvSpPr txBox="1"/>
          <p:nvPr/>
        </p:nvSpPr>
        <p:spPr>
          <a:xfrm>
            <a:off x="9467359" y="341631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 A , B , D , 0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B6DBD-3309-F3C5-E2D3-D6F2DC897BBB}"/>
              </a:ext>
            </a:extLst>
          </p:cNvPr>
          <p:cNvSpPr txBox="1"/>
          <p:nvPr/>
        </p:nvSpPr>
        <p:spPr>
          <a:xfrm>
            <a:off x="9467359" y="438296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B , C , D ,  A , 0 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ACCFFC-F184-0551-6A28-7770BEB30F85}"/>
              </a:ext>
            </a:extLst>
          </p:cNvPr>
          <p:cNvSpPr txBox="1"/>
          <p:nvPr/>
        </p:nvSpPr>
        <p:spPr>
          <a:xfrm>
            <a:off x="9521476" y="5285422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C , D ,  A , B , 0 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419EE2-0A36-5C68-7DD6-ED4BDA261097}"/>
              </a:ext>
            </a:extLst>
          </p:cNvPr>
          <p:cNvCxnSpPr>
            <a:cxnSpLocks/>
          </p:cNvCxnSpPr>
          <p:nvPr/>
        </p:nvCxnSpPr>
        <p:spPr>
          <a:xfrm>
            <a:off x="3988593" y="5654754"/>
            <a:ext cx="4419992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D41ECB-A14F-5BB9-CAD9-AFF216E9E48A}"/>
              </a:ext>
            </a:extLst>
          </p:cNvPr>
          <p:cNvCxnSpPr>
            <a:cxnSpLocks/>
          </p:cNvCxnSpPr>
          <p:nvPr/>
        </p:nvCxnSpPr>
        <p:spPr>
          <a:xfrm flipV="1">
            <a:off x="3988593" y="2944664"/>
            <a:ext cx="4214813" cy="7215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7D59F4-5B91-C828-7C0B-49CDF9BBCA8A}"/>
              </a:ext>
            </a:extLst>
          </p:cNvPr>
          <p:cNvCxnSpPr>
            <a:cxnSpLocks/>
          </p:cNvCxnSpPr>
          <p:nvPr/>
        </p:nvCxnSpPr>
        <p:spPr>
          <a:xfrm>
            <a:off x="3984786" y="2914857"/>
            <a:ext cx="4240896" cy="171724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B1F086-29F3-E6F8-6212-2B55526588F6}"/>
              </a:ext>
            </a:extLst>
          </p:cNvPr>
          <p:cNvCxnSpPr>
            <a:cxnSpLocks/>
          </p:cNvCxnSpPr>
          <p:nvPr/>
        </p:nvCxnSpPr>
        <p:spPr>
          <a:xfrm flipV="1">
            <a:off x="3923780" y="3666242"/>
            <a:ext cx="4492422" cy="69382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E9BB2D1-F8BC-173D-352D-6E8E4D0D7E25}"/>
              </a:ext>
            </a:extLst>
          </p:cNvPr>
          <p:cNvSpPr txBox="1"/>
          <p:nvPr/>
        </p:nvSpPr>
        <p:spPr>
          <a:xfrm>
            <a:off x="4673935" y="5737863"/>
            <a:ext cx="283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ALGORITHM TERMINATES</a:t>
            </a:r>
          </a:p>
        </p:txBody>
      </p:sp>
    </p:spTree>
    <p:extLst>
      <p:ext uri="{BB962C8B-B14F-4D97-AF65-F5344CB8AC3E}">
        <p14:creationId xmlns:p14="http://schemas.microsoft.com/office/powerpoint/2010/main" val="26921367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538</TotalTime>
  <Words>5741</Words>
  <Application>Microsoft Macintosh PowerPoint</Application>
  <PresentationFormat>Widescreen</PresentationFormat>
  <Paragraphs>777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Gill Sans MT</vt:lpstr>
      <vt:lpstr>Gallery</vt:lpstr>
      <vt:lpstr>London Fire Brigade  Personnel Placements</vt:lpstr>
      <vt:lpstr>Contents</vt:lpstr>
      <vt:lpstr>Introduction</vt:lpstr>
      <vt:lpstr>Introduction to Matching and “Market Design” (where I’m coming from)</vt:lpstr>
      <vt:lpstr>My Previous work</vt:lpstr>
      <vt:lpstr>School Choice:  </vt:lpstr>
      <vt:lpstr>Doctor Allocation:   From Roth (1984)</vt:lpstr>
      <vt:lpstr>TEACHER ALLOCATION:  THE PROBLEM       other problems from combe, terrier, and tercieux (2022,2025, forthcoming)</vt:lpstr>
      <vt:lpstr>TEACHER ALLOCATION:  Dynamics       other problems from combe, terrier, and tercieux (2022,2025, forthcoming)</vt:lpstr>
      <vt:lpstr>What I can do for you  </vt:lpstr>
      <vt:lpstr>My Goals</vt:lpstr>
      <vt:lpstr>My Previous work:   Food Banks       Return   </vt:lpstr>
      <vt:lpstr>My Previous work:   Council Housing     Return   </vt:lpstr>
      <vt:lpstr>My Previous work:   Ride Sharing      Return   </vt:lpstr>
      <vt:lpstr>My Previous work:   Doctor Allocation    Return   </vt:lpstr>
      <vt:lpstr>Doctor Allocation:  Challenges and Lessons   Return From Roth (1986)</vt:lpstr>
      <vt:lpstr>Doctor Allocation:  Two Algorithms     Return</vt:lpstr>
      <vt:lpstr>School Choice:  The benefits of centralisation    Return From Abdulkadiroglu, Agarwal, and Pathak (2017)</vt:lpstr>
      <vt:lpstr>School Choice:  Choice of Mechanism      Return From Agarwal and Somaini (2020)</vt:lpstr>
      <vt:lpstr>Cadet Matching:  The Problem          RETURN From Sonmez and Switzer (2013)</vt:lpstr>
      <vt:lpstr>Cadet Matching  The Old Algorithm     Return</vt:lpstr>
      <vt:lpstr>Teacher Allocation:  Other concerns     Return</vt:lpstr>
      <vt:lpstr>Teacher Allocation:  Top Trading Cycles    Return From Shapley and Scarf (1974)</vt:lpstr>
      <vt:lpstr>Deferred Acceptance          Return</vt:lpstr>
      <vt:lpstr>Deferred Acceptance          Return</vt:lpstr>
      <vt:lpstr>Deferred Acceptance          Return</vt:lpstr>
      <vt:lpstr>Deferred Acceptance          Return</vt:lpstr>
      <vt:lpstr>Deferred Acceptance          Return</vt:lpstr>
      <vt:lpstr>Deferred Acceptance          Return</vt:lpstr>
      <vt:lpstr>Deferred Acceptance          Return</vt:lpstr>
      <vt:lpstr>Deferred Acceptance          Return</vt:lpstr>
      <vt:lpstr>Deferred Acceptance          Return</vt:lpstr>
      <vt:lpstr>Immediate Acceptance          Return</vt:lpstr>
      <vt:lpstr>Immediate Acceptance          Return</vt:lpstr>
      <vt:lpstr>Immediate Acceptance          Return</vt:lpstr>
      <vt:lpstr>Immediate Acceptance          Return</vt:lpstr>
      <vt:lpstr>Immediate Acceptance          Return</vt:lpstr>
      <vt:lpstr>Immediate Acceptance          Return</vt:lpstr>
      <vt:lpstr>Immediate Acceptance          Return</vt:lpstr>
      <vt:lpstr>Immediate Acceptance          Return</vt:lpstr>
      <vt:lpstr>Immediate Acceptance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  <vt:lpstr>Top Trading Cycles          Return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Altmann</dc:creator>
  <cp:lastModifiedBy>Sam Altmann</cp:lastModifiedBy>
  <cp:revision>18</cp:revision>
  <dcterms:created xsi:type="dcterms:W3CDTF">2024-12-18T15:43:16Z</dcterms:created>
  <dcterms:modified xsi:type="dcterms:W3CDTF">2025-04-02T10:37:46Z</dcterms:modified>
</cp:coreProperties>
</file>